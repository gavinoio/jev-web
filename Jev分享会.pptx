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2b0c9fe4-e3ef-ce71-0800-230da25aea4b}">
          <p14:sldIdLst>
            <p14:sldId id="256"/>
            <p14:sldId id="257"/>
          </p14:sldIdLst>
        </p14:section>
        <p14:section name="先备知识" id="{0c874248-2020-6e51-b88b-e86378b9a3b1}">
          <p14:sldIdLst>
            <p14:sldId id="258"/>
            <p14:sldId id="259"/>
            <p14:sldId id="260"/>
            <p14:sldId id="261"/>
          </p14:sldIdLst>
        </p14:section>
        <p14:section name="认识 Jev" id="{97ec16e0-a636-b7fa-11f3-6e923c1f187a}">
          <p14:sldIdLst>
            <p14:sldId id="262"/>
            <p14:sldId id="263"/>
            <p14:sldId id="264"/>
            <p14:sldId id="265"/>
          </p14:sldIdLst>
        </p14:section>
        <p14:section name="为什么值得用" id="{c268ee0d-9142-fe27-b11a-0dd0df7bab71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真实案例" id="{5dac99b0-07b4-96cf-a5e9-d827b9fa5f7e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以后用在哪" id="{f233c6e1-78ed-ee8d-55e5-c0249066c6ea}">
          <p14:sldIdLst>
            <p14:sldId id="283"/>
            <p14:sldId id="284"/>
            <p14:sldId id="285"/>
          </p14:sldIdLst>
        </p14:section>
        <p14:section name="上手" id="{4e270a08-222f-9bc8-6f40-8c9c13dfb743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水分与落地" id="{e8fb9ba0-7cc3-95a4-18f2-a688792029de}">
          <p14:sldIdLst>
            <p14:sldId id="292"/>
            <p14:sldId id="293"/>
          </p14:sldIdLst>
        </p14:section>
        <p14:section name="压轴演示" id="{144cd984-3fec-a0ad-3401-2bcc6a975bb1}">
          <p14:sldIdLst>
            <p14:sldId id="294"/>
            <p14:sldId id="295"/>
          </p14:sldIdLst>
        </p14:section>
        <p14:section name="收尾" id="{de3d3a78-7338-f94d-1ddb-52199e5c6e28}">
          <p14:sldIdLst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理想</c:v>
                </c:pt>
              </c:strCache>
            </c:strRef>
          </c:tx>
          <c:spPr>
            <a:solidFill>
              <a:srgbClr val="6F8399"/>
            </a:solidFill>
            <a:ln w="38100" cap="flat">
              <a:solidFill>
                <a:srgbClr val="6F8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F8399"/>
              </a:solidFill>
              <a:ln w="9525" cap="flat">
                <a:solidFill>
                  <a:srgbClr val="6F8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0.5</c:v>
                  </c:pt>
                  <c:pt idx="1">
                    <c:v>0.6</c:v>
                  </c:pt>
                  <c:pt idx="2">
                    <c:v>0.7</c:v>
                  </c:pt>
                  <c:pt idx="3">
                    <c:v>0.8</c:v>
                  </c:pt>
                  <c:pt idx="4">
                    <c:v>0.9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0.6</c:v>
                </c:pt>
                <c:pt idx="2">
                  <c:v>0.7</c:v>
                </c:pt>
                <c:pt idx="3">
                  <c:v>0.8</c:v>
                </c:pt>
                <c:pt idx="4">
                  <c:v>0.9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校准好</c:v>
                </c:pt>
              </c:strCache>
            </c:strRef>
          </c:tx>
          <c:spPr>
            <a:solidFill>
              <a:srgbClr val="34D399"/>
            </a:solidFill>
            <a:ln w="38100" cap="flat">
              <a:solidFill>
                <a:srgbClr val="34D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0.5</c:v>
                  </c:pt>
                  <c:pt idx="1">
                    <c:v>0.6</c:v>
                  </c:pt>
                  <c:pt idx="2">
                    <c:v>0.7</c:v>
                  </c:pt>
                  <c:pt idx="3">
                    <c:v>0.8</c:v>
                  </c:pt>
                  <c:pt idx="4">
                    <c:v>0.9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</c:v>
                </c:pt>
                <c:pt idx="1">
                  <c:v>0.61</c:v>
                </c:pt>
                <c:pt idx="2">
                  <c:v>0.7</c:v>
                </c:pt>
                <c:pt idx="3">
                  <c:v>0.8</c:v>
                </c:pt>
                <c:pt idx="4">
                  <c:v>0.9</c:v>
                </c:pt>
                <c:pt idx="5">
                  <c:v>0.99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过度自信</c:v>
                </c:pt>
              </c:strCache>
            </c:strRef>
          </c:tx>
          <c:spPr>
            <a:solidFill>
              <a:srgbClr val="F87171"/>
            </a:solidFill>
            <a:ln w="38100" cap="flat">
              <a:solidFill>
                <a:srgbClr val="F8717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87171"/>
              </a:solidFill>
              <a:ln w="9525" cap="flat">
                <a:solidFill>
                  <a:srgbClr val="F871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0.5</c:v>
                  </c:pt>
                  <c:pt idx="1">
                    <c:v>0.6</c:v>
                  </c:pt>
                  <c:pt idx="2">
                    <c:v>0.7</c:v>
                  </c:pt>
                  <c:pt idx="3">
                    <c:v>0.8</c:v>
                  </c:pt>
                  <c:pt idx="4">
                    <c:v>0.9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</c:v>
                </c:pt>
                <c:pt idx="1">
                  <c:v>0.52</c:v>
                </c:pt>
                <c:pt idx="2">
                  <c:v>0.55</c:v>
                </c:pt>
                <c:pt idx="3">
                  <c:v>0.6</c:v>
                </c:pt>
                <c:pt idx="4">
                  <c:v>0.66</c:v>
                </c:pt>
                <c:pt idx="5">
                  <c:v>0.7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DA2C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DA2C0"/>
                    </a:solidFill>
                    <a:latin typeface="Arial"/>
                  </a:rPr>
                  <a:t>模型自报的把握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DA2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9525" cap="flat">
              <a:solidFill>
                <a:srgbClr val="1B294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DA2C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DA2C0"/>
                    </a:solidFill>
                    <a:latin typeface="Arial"/>
                  </a:rPr>
                  <a:t>实际正确率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DA2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8EEF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大家好。今天想跟大家聊一个很特别的模型，叫 Jev。它特别在哪？它一个字都不会写。你让它写首诗、写个排序算法，它直接报错——它连"生成文字"的接口都没有。
可是就是这样一个"什么都不会写"的模型，发布之后，全网的开发者都在兴奋地讨论它。为什么？今天我就想带大家搞清楚这件事。
先留一个问题，带着它听：我们代码里调大模型的地方，到底有多少，其实只是在让它"选一个"？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今天分八块。先用几页把几个 AI 名词讲明白，不讲原理，只求大家听到这些词的时候心里有概念。然后请出主角：Jev 到底是什么、长什么样；再讲它为什么值得用——快、省、准，以及最值钱的用法：按把握分流。接着看一批真实案例，再聊聊以后能用在哪，然后是怎么上手，再讲哪些是被吹过头的水分、怎么稳妥落地。最后用一个"会变形的输入框"压轴，把前面所有东西串起来。
中间有五次现场演示，都是真实调用。另外我会把官方说的、第三方测的、个人发的数据分开讲，因为这个模型被宣传得有点过。
如果今天只记一句话，就是底下这句：程序里很多"判断"其实只是选择题，交给只会勾选项的模型来做，更快、更省，还告诉你有几成把握。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先说大模型。很多人以为它是在"查资料"，其实不是，它是在续写。就像你手机输入法的联想：你打"今天天气真"，输入法给你一排候选，"好"、"不错"、"热"，每个候选有一个概率。大模型就是做这件事。
它给每个候选词打一个概率，挑一个，写上去，然后——把前面所有的内容再读一遍，再挑下一个。（点屏幕上的候选词，演示一两轮）
写 500 个字，这个"重读再接一个字"的循环就要跑几百次。所以它能写长文，但也因此又慢又贵。
为什么先讲这个？因为 Jev 只做第一步——打概率，然后就停了，一个字也不往下写。这是它快和便宜的根源，后面会反复用到。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词，token，中文叫词元。模型读的不是"字"，而是切碎的片段。比如"程序员"，可能被切成"程序"和"员"两块。它有两个作用：计费按它算，长度上限也按它算。你可以把它理解成手机流量里的"MB"，用多少，收多少。中文一般比英文更费 token。
还有一点很关键：输出的 token 通常比输入贵好几倍。这是后面讲"省钱"的伏笔，请记住。
再说上下文，也叫上下文窗口。想象会议室里一块白板，模型一次只能看白板上的东西，写满了就得擦掉最早的。很多人觉得 ChatGPT "记得我"，其实是每次对话，客户端把历史聊天重新发了一遍。所以材料越长越杂，模型反而越容易跑偏。
放到 Jev 身上：输入大概 4 美分一百万 token，输出不收钱；一次大概能看三万多 token，也就是两三万汉字的材料。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Prompt，提示词，就是你写给模型的"需求说明"。写得像给新同事讲判断标准，效果最好。
幻觉呢？就是模型一本正经地编造。为什么会这样？因为它在做续写，不是在查事实。就像考试遇到不会的题，学生硬写一个看起来对的答案。前端同学可以类比成：没有类型检查的 `any`，什么都能吐出来。
这里先埋一个伏笔：Jev 号称"零幻觉"。它的意思是，答案被锁在你给的选项里，不会凭空多出第四个选项。但这不等于选对。格式不会错，内容完全可能错。后面我们还会反复回来说这件事。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接下来是今年最热的词，Agent，智能体。拆开很简单：大模型加工具加循环。你说"帮我订周五去上海的机票"，它先想："下一步该干嘛？"——先搜航班，还是先问预算？决定了，调用搜索工具；工具返回 12 条结果，它再想："选哪一条？"想、做、看，一直循环到完成。
有一点要明白：模型自己不会点按钮。它只是说"我要调用这个工具，参数是这样"，真正执行的是你写的代码。前端同学可以想想 `dispatch(action)` 和 reducer。
现在看右边这个数字：每一步问一次大模型，大概 1 到 2 秒，一个任务几十步。你会发现——每一步其实都是一道选择题：先搜还是先问？点哪个按钮？选哪一条？但我们用的，是写作文的模型在答。
这就是 Jev 想抢的位置。请记住这个画面。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好，主角登场。一句话：ChatGPT 给人写答案，Jev 给程序做判断。
你给它一段材料，再给它几道选项事先定好的题，它只返回：选了哪个，各选项概率多少，有多大把握。它不能聊天、不能写文案、不能写代码，也不能给你描述一张图。你打开官网会找不到聊天框，不是页面坏了，官网首页自己就写着一句 （Not a generative chat model）。
它是一家叫 TypeSafe AI 的旧金山创业公司做的，创始人以前在 OpenAI。官方把这类模型叫"System One 模型"——对应卡尼曼《思考，快与慢》里的"快思考"：人 90% 的动作靠直觉，只有难题才启动慢思考。大模型一直在模仿慢思考，Jev 补的是那个快的、只凭直觉做选择的部分。
注意这个取舍：它不会写，所以才能又快又便宜。这不是缺陷，是设计。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Jev 的题型一共四种，常用的是前三种。第一种是是非题，官方叫 Noul，返回"是"的概率。比如"这条工单紧急吗"，返回 0.94。第二种是单选题，叫 Choice，最多 255 个选项，选项你定死，所以它不会凭空编出第四个。第三种是打分题，Score，你定义一个有顺序的等级，比如客户有多不满，它打的分可以是小数。
第四种叫 box，框选题：给它一张图，告诉它找什么，它返回那个东西的位置，也就是四条边。这是官方的原型功能，下一页我们四种一起现场试。
最关键的是最后一句：同一份材料，可以一次问好几道题，只读一遍。后面讲"省"会用到。另外要提醒大家：真正花时间的不是调用它，而是把"我想知道什么"写成清楚的问题。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上一页讲了四种题，现在一个个点一遍。先看是非题：这条消息是不是要马上处理？接口报 500 那条，97%；扣了两次款那条，只有两成多。左边绿框是我人工标的参考答案，可以对照。
再看单选题：归哪个部门。扣费就是账单，100%；问店铺几点关门，它选了 other，因为我给了它一个"以上都不是"的出口；而"涨价了？"那条，销售、技术、账单都沾边，概率很分散，这种就该转人工。
打分题：同一把尺子，从冷静到愤怒，三句话分别是 0.2、1.0、2.0 左右，分数可以是小数。
最后是第四种，框选题。我给它一张图，告诉它找"JEV 那个秒表"，它返回四条边，页面把框画出来了，把握度八成左右。黑色牌子九成多。再看"LLM 秒表"：把握度只有两成，所以低把握的框不能直接用。再看"图里没有的东西"：我让它找一把红雨伞，它照样给我一个框，因为 Box 没有"找不到"这个答案，要靠旁边那道是非题判断，那道只有百分之几，所以这个框应该忽略。
要提醒大家，官方自己把 Box 标成 Dreamer-ready，也就是原型阶段，格式和准确率都可能变，先拿来玩，别上生产。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对前端来说很熟悉，就是一个 fetch。请求体只有三块：`model` 用哪个版本，`state` 是现场的材料，`questions` 是你出的题。返回里按你起的键名返回答案：是非题是一个 0 到 1 的数，单选题是选中的那个，再加上每个选项的概率和"把握度"。
有一点：判定之后做什么，由你自己的 if 来写，Jev 不会替你执行业务。哪些字段是固定的、哪些可以自己起名，第 33、34 页专门讲。还有代码里那行注释：Key 只能放后端，别放浏览器——所以等会儿演示，我用的是本地服务转发。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好，进入重点：为什么快？
左边是大模型：一个字一个字写，每写一个字，把前文再算一遍。右边是 Jev：输出被锁在选项里，一次算出所有选项的概率，就完事了。多道题还是并行的，共享同一次"读材料"。官方说是"并行采样加新架构"，具体怎么实现没公开，所以我不乱讲。
数字：官方说单次 70 到 500 毫秒；社区网友自报的中位数大概 76 毫秒；我自己在公司电脑上测，大概 250 毫秒，多出来的是跨境网络。
但我想强调一个更有意思的发现：有人在上海做了串行实测，Jev 典型 0.7 秒、最慢 1.5 秒；对照的一个轻量大模型，中位数差不多，但最慢一次要 32 秒。所以它真正赢的，不只是快，是稳，不会偶尔卡住。对线上产品来说，偶尔卡 30 秒，比平均慢一点要痛得多。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再说省，这是最容易被讲偏的一页，所以我分开算。省其实是四笔账。
第一，输出几乎免费。大模型输出价格通常是输入的五倍左右，因为每个字都要现算；Jev 输出不计费。
第二，没有废话 token。有个内容审核的例子，同一个任务，输出 token 是 85 对 910。大模型爱解释、爱客套，这些都是钱。
第三，多题合并一次读。同一份材料问 13 道题，官方说便宜 12 倍、快 10 倍，这是厂商数据，听一听。
第四，少一类失败。大模型输出 JSON，偶尔格式错了要重试、要写防御代码；Jev 的输出是规整的，不会出这种事。
右边是官方自建评测的成本对比，Jev 一个案例大概 4 厘钱，同样准确率的大模型要一毛多，差了两个数量级。但注意，这是官方口径，下一页我们就来泼冷水。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官网首页写"快 193 倍、便宜 444 倍"。社区有人统计了发布期的上万条推文里的自报数字：快的中位数是 7 倍，省的中位数是 30 倍。所以做预算，请用中位数，别用口号。
更重要的是右边这张卡：有人拿 100 条中文资讯、300 个判断，对比一个便宜的轻量大模型。结果准确率 94.7% 对 93.0%，花费各 3 美分上下，基本打平。所以"便宜 400 倍"比的是最强的前沿大模型，对上轻量模型，它并不占价格优势。
还有三种情况"省"不成立：你用的是 Claude Code、Codex 这种按月付费的订阅，判断本来就包在月费里，再插一层 Jev 只是多一层；材料特别长，输入仍然按 token 收；还有，官方自己承认现在的价格可能有补贴。
所以结论是：别拿"便宜"当选它的理由，要拿"稳定的低延迟，加带把握度的答案"。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那凭什么敢信它的答案？这是 Jev 最核心的东西：校准。
打个比方：天气预报说降雨概率 70%，如果在所有说 70% 的那些天里，真有七成下了雨，这个预报就叫"校准好"。以前的小分类模型很快，但经常蜜汁自信，错了也标 99%，你根本不敢拿它的置信度做自动决策。
Jev 的训练方式专门奖励"把握说得准"。证据：有人测了 1.8 万封垃圾邮件，模型打分 0.9 以上的，99.9% 真是垃圾；打分在 0.5 到 0.6 之间的，只有 38%——它说"拿不准"的时候，真的就拿不准。
但必须泼一盆冷水：把握度不等于正确率，它只是"答案有多集中"。有独立评测给出过不太好看的校准误差。所以结论是：要拿你自己的数据验，别全信。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好，这一页是整场最重要的一页。有了"说 90% 就对 90%"，就可以做一个非常漂亮的玩法：按把握分流。
一条请求过来，Jev 判断，附带一个把握。把握大于 0.9，直接自动执行；0.7 到 0.9，交给大模型复核；低于 0.7，转人工。刚才那个垃圾邮件的例子：把中间 4.6% 转人工，剩下的自动处理，准确率 99.5%。
右边是一个社区做的播客排名器：85 段内容全部由 Jev 打分，只把低把握的 36 段交给另一个大模型复核，总共花了一分多钱。
所以它不是"替代大模型"，而是在大模型前面加一道又快又便宜的闸门，把八九成的请求挡在外面。大模型是军师，Jev 是传令兵。它抢的不是大模型的活，而是那些以前"不值得上 AI"的小判断。
当然，阈值只是起点，要用自己的数据校准；退款、删除、对外发消息这类不可逆的动作，把握再高也要留硬规则。好，我们现场试一下。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现在我们像用官方 Playground 一样来现场试。先看界面：左上是材料，下面一排是示例，每个示例都有一个绿色虚线框，写着参考答案——是我提前人工标好的，大家先看标准答案，再看 Jev 答得对不对。左下是题目，颜色和刚才那页一样，还可以点"编辑"直接改。右边是返回：每道题的概率、把握度，还有和参考答案的对照。
先看第一个标签，工单分流。点 Run……选了账单，100%，三项都和参考答案一致，把握度很高，这种就自动分流。我拖一下这个分流线——阈值是我自己定的，不是模型给的。
再换一条拿不准的："套餐是不是涨价了，功能怎么用不了了"。你们看，销售、技术、账单三个都沾一点，把握度只有三成左右，它在说"我不确定"，这种就该转人工。
最后给大家看个坑："帮我看看这个"。它居然选了"技术"，把握度还有 95%。这组题我故意没放"其他"这个选项——没有出口，它就只能硬选，而且还很自信。所以两条规矩：单选一定留 other，调用前先检查材料够不够。
再切到第三个标签：VIP 路由。这个材料是一段 JSON，除了用户的话，我还放进了客户信息：等级、一年的订单数、累计消费。你们看这两条："耳机用了两天就坏了，请帮我退款"——一模一样的话，客户是 VIP，它选专属客服；客户是普通用户，它选自动退款流程。
这就回答了刚才大家可能想问的：能不能加入"人的思维"？ 可以——但要由你的代码去查这个用户是不是 VIP，把结果放进材料里；Jev 只做一次判断，它自己不会去查，也没有记忆。"VIP 走专属渠道"这个动作，还是你代码里的 if。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原理讲完，来看真实案例。我把它们分成六类：Agent 的决策器、内容审核、海量分类、文档处理、检索排序，还有给 Agent 装闸门的开发者工具。
这六类有一个共同点：选项事先存在，不需要它写一篇话。我们挑几个最有代表性的讲，前端同学最有共鸣的是前面三个和最后一个。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先看最贴近前端的：浏览器 Agent。Browser Use 是一个开源的"能操作浏览器的 AI"，他们做了一个叫 jev-ultrafast 的版本。
以前让 AI 操作网页，每到一个新页面，要截图给看图的大模型，想两秒，再决定点哪。现在的做法是：把网页拆成带编号的元素清单，输入框 1、按钮 2、链接 3，让 Jev 在清单里选"做什么、对哪个"。你看右边这张图：页面被拆成 12 个编号元素，机器人回答"点 7"，这就是一道单选题。
实测一次从苏黎世搜到伦敦的机票，9.5 秒降到 7.1 秒，一次决策大约 0.4 分钱。要说实话：只快了大约四分之一，不算夸张，亮点在后面这个"准"。
还有一个更有意思的基准测试：同样用 Jev，直接把网页的原始代码丢给它，只做对 49 个任务里的 25 个；整理成编号清单，49 个全对。所以结论是：状态怎么"喂"，比换哪个模型更重要。这条对我们做前端的，很有启发。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第二个：内容审核。有一个叫 NearHere 的活动平台，拿 Jev 做审核，准确率 96%，对比一个轻量大模型是 86%，每次判断便宜 58 倍。
看这套题怎么出：一次请求，三道题同时答——是不是辱骂、是不是诈骗、建议怎么处理。辱骂概率超过 0.5 就隐藏，诈骗概率超过 0.7 就交人工，其余放行。官方说一次大概 100 毫秒，我在本机测是两三百毫秒。
这个速度意味着什么？意味着可以做到用户打字的时候就在判，而不是等发布以后再审。大模型做不到这件事，因为太慢了。我们现场试。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这一页，我边打字它边判。左边是题目——三道：是不是辱骂、是不是诈骗、建议怎么处理；右边是返回，每道题都有概率，旁边还有参考答案做对照。
（点"正常"）放行，和参考答案一致。（点"辱骂"）辱骂 94%，隐藏。（点"诈骗"）诈骗 99%，建议升级人工。
最有意思的是最后这个反讽——没有标准答案。你看，辱骂只有两成多，处理建议的把握也只有六成，这就是它在说"我拿不准"。真上线时，这一档该折叠或抽检，而不是硬判。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第三个，垃圾邮件。有人用 1.8 万封邮件测，Jev 不用任何训练数据，准确率 98.3%；对照一个用了一万四千多条标注数据训练的传统模型，98.4%——打平了。两个模型意见不一致的 466 封，各占一半，差异没有统计意义。
这里要诚实地说一句：他们的评判标准是看了 1000 封错例后调过的，所以不完全是"零训练"。
这个案例的价值是：你没有标注数据也能起步，而且它给你把握度，可以分流。右边是个工单分流的示例题：类别用单选题，是否要求退款用是非题，缺陷严重度用打分题。再提醒一次，每个单选题都留一个"其他"出口，否则它会硬选一个最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第四个，海量分类，这是 Jev 最能省钱的地方。输入极便宜、输出免费，意味着你可以对几百万条数据逐条判断。看这几个数字：一千多篇论文分 24 类，8 分钱；724 条广告，40 秒，9 分钱；三千多条推文，每条问 8 个问题，13 分钱；还有人把 320 份 Agent 会话日志，大概 200 万个 token，14 秒、8 分钱分完类。
右边这个很有趣：有人做了个数据库小扩展，你可以在查询条件里直接写一句人话，129 行数据大概一秒就判完。
这些大多是作者自报，没有独立复现，但数量级是可信的。重点是：逐条判断，从"不值得"变成了"算得过账"。我们现场试 100 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条用户反馈，每条都不一样，让它分成表扬、故障、建议、投诉。10 个并发，点一下……（等）好，大概 5 秒，花费不到 0.2 美分。右边是最近完成的几条：材料、我预先标好的答案、Jev 的答案、还有把握度，对的打勾。最上面能看到一致率。
最后 4 条我故意写成"先夸后骂"，比如"功能挺好用的，就是价格涨得有点狠"——它判成投诉，抓住了"但是"后面的重点。
不过要说明：这些句子是我写的，意思都很清楚，全对不代表它在真实数据上也能 100% 准——真实数据一定要用自己的样本测。
另外有个细节：每条大约 380 个输入 token，其中大部分是题目本身，所以材料很短的时候，成本主要花在题目上，这也是为什么"同一份材料多问几题"更划算。按这个量级，十万条历史工单，也就是十几美元。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一个官方公布的生产案例：一家叫 Jack &amp; Jill 的招聘平台，每个岗位每天有大约 6000 个候选人要初筛。换成 Jev 之后，每千人筛选成本从 0.755 美元降到 0.092 美元，降了 88%，10 天从测试到全量。
但注意：筛出来的好候选人保留率，从 93.9% 到 94.6%，差异不显著，所以只能说"持平"，别讲成"更准"。这是官方的口径，具体出处大家会后可以再核对。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第六个，一个开源项目 DocJev，作者是做 LlamaIndex 的 Jerry Liu。它能给 PDF、Word、PPT 做分类，也能把一堆文档合订在一起的包拆开——Jev 的任务是判断"这一页是不是新文档的开头"。四十份文档分类全对，拆包 8 个对了 7 个，延迟中位数 139 毫秒，对比的大模型是 794 毫秒。
但作者自己说了：这是小样本、描述性的结果，不代表泛化准确率。我们看的是它的玩法：它不是在回答问题，而是在判断边界。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开发者工具这类，大家可能马上能用。一个按意思搜代码的小工具 siftr：在"找出该改哪个文件"的评测里，正确文件排进前五的概率 82%，传统关键词搜索只有 52% 和 22%。一个按意思搜索的 jgrep：994 条技术社区标题，4.6 秒、1 分钱。还有给编码 Agent 的每次操作加闸门的，每次判"安全、要确认还是拦截"。
主流的 Agent 开发框架也已经集成了：能按任务难度在快模型和强模型之间选，或者在 AI 动手前拦截高风险动作。
这些项目有个共同模式：先用代码把无关内容筛掉，再交给 Jev，因为材料越杂越不准。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网上还刷屏了一堆好玩的：俄罗斯方块、一个 120 人的小镇模拟，还有官方的 Doom 游戏演示。需要提醒的是 Doom 那个，喂给它的是敌人坐标，不是画面。这些说明的是它能高频地做决策，每秒大约 10 次，不说明它会玩游戏。看个热闹就好。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案例看完了，我们想想：以后能用在哪。给大家一个自检标准：现在用大模型、但其实只让它返回一个选项的地方；或者以前觉得不值得上 AI 的小判断。
适合的形态有四种：高频的，每秒好几次；大批量的，百万条逐条判；要快的，用户在等；要闸门的，按把握分流。
不适合的也要说清楚：写作、开放问答、看图、需要解释理由的，还有一类特别重要——规则已经能稳定解决的，别为了用模型而用模型。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我按前端和产品的视角列了八个方向，分两组。
上面这组已经有人跑通了：评论和表单的实时初审；客服工单入口的分流；自动化测试和浏览器 Agent 里"点哪个"；AI 功能的路由器，简单问题走小模型。
下面这组是我们的设想，还没有人验证：搜索筛选，用户输入一句话，转成筛选条件；埋点、日志、报错自动分级，告警降噪；自适应 UI，预测用户下一步；还有研发效率，代码改动风险分级、Bug 和需求自动打标签。
放到游戏平台里：玩家评论和聊天的实时审核，充值、封号、BUG 这类客服工单的分流，玩家反馈自动打标签。你们负责的系统里，有哪些地方其实只返回一个选项？欢迎大家说说。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最后说个趋势。AI 调用正在分层：大模型当军师，负责拆任务、写代码、写文案；像 Jev 这样的高速小模型当传令兵，做成百上千次的分拣、路由、拦截。Jev 这个名字来自"杰文斯悖论"——东西变便宜之后，用量往往不降反升。
而且这件事不是一家的：OpenAI、Cloudflare、微软都已经出了类似的产品。所以即使 Jev 本身以后被替代，这套"选择题加概率加分流"的思路依然有用。题目和代码写好之后，换供应商的成本很低，别绑死一家。
一句话：给我们的系统，装上一枚枚毫秒级响应的智能 if。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上手很简单。去 console.typesafe.ai，也就是官方控制台，建一个 Key，存成环境变量；先玩 Playground，不用写代码，左边贴材料，右边写题目，点 Run；然后用 API 或者 SDK 发一条请求。上生产的时候，把模型版本写死，别用 jev-latest。
红色这条请大家记住：Key 只放后端，不进浏览器、不进代码仓库、不发群，它就像一张带额度的银行卡密码。
左下角是三个官方入口：官网 typesafe.ai，控制台 console.typesafe.ai/home，文档 docs.typesafe.ai。账号政策、赠金变动得很快，以控制台为准；也可以通过 OpenRouter 这类第三方平台调用，不用排队。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这是官方控制台里的 Playground，也就是试验场。左边就是 Jev 的两样输入：上面是材料，下面是题目，点 Run request 运行。右边是官方准备的示例，正好对应三种题：热狗算不算三明治是是非题，天空什么颜色是单选题，猴子能不能创作艺术是打分题。
右边这张是我用中文真实跑的一次："我买的耳机用了两天就坏了，请帮我退款。"两道题：一道单选判断主要诉求，一道是非问是不是明确要退款。几百毫秒就返回：退款 100%，把握度 100%；要退款 98%。
你看，题目就是写出来的人话，没有训练，没有微调，中文直接能用。而且 Playground 左边这两个框，就是 API 里的 state 和 questions——在这里调好题目，复制进代码就能用。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刚才控制台那一页，不少同学可能在想：这里面哪些是固定的，哪些是我自己写的？我专门做了一页。
你可以把它想成填一张表：表头是印好的，你只管填内容。
先看青色的：`type`、`instructions`、`criteria`，这是固定的字段名，不能改，写错会直接报错。紫色的是 `type` 的值，只能从 `choice`、`noul`、`score`、`box` 这四种里选，不能自己编。
橙色的是自己起名：`request_type`、`wants_refund` 是题目的名字，你可以改成 `category`、`need_refund`；`refund`、`repair`、`other` 是选项的标识。返回的结果会用同样的名字，所以你的代码里就按这个名字去取。
最后绿色的，是你自己填的内容：问题怎么问，每个选项代表什么，全由你写。
一句话总结：固定的是"形状"，自己写的是"内容"。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再看一页，`type` 到底能写什么。目前就四种：`noul` 是非题、`choice` 单选题、`score` 打分题，还有一个 `box`，是框选题，要带图，第 9 页已经演示过。
注意一个细节：`criteria` 虽然是固定的字段名，但里面怎么写，取决于 `type`。单选题，写成"对象"，每个选项是一个名字加一句说明；打分题，写成"数组"，从低到高按顺序写每一档的意思；是非题一般不用写。
返回的东西也对应：是非题返回一个 0 到 1 的概率；单选题返回选中的名字、每一项的概率和把握度；打分题返回一个可以是小数的分数。
下面是四条写题的规矩：选项要互斥；单选题留一个 other；名字用英文加下划线；一道题只问一件事，同一份材料的多道题，合并成一次请求。
如果报错，先查两件事：`type` 有没有拼错；单选的 `criteria` 是不是写成了对象、打分的是不是写成了数组。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装 Jev 会用到三个词，我趁这里快速讲一下。第一个，MCP，全称 Model Context Protocol，模型上下文协议。它是 Anthropic，也就是 Claude 背后那家公司提出的一个开放标准，让 AI 去连外部系统。你可以理解成 AI 的 USB-C 口：三个 AI、四个工具，以前要做 12 套对接，现在各接一次，3 加 4 等于 7。
第二个，Skill，技能包。就是写给 AI 看的操作手册，一个文件夹，里面有说明书和脚本示例，用到的时候才读进来，不会把 AI 的"白板"撑爆。你可以想成新人入职手册。
第三个，Harness，运行框架。大模型只是发动机，Harness 是包在外面的整辆车：负责循环、调工具、管上下文。你们天天用的 Claude Code，本身就是一个 Harness。
下一页装官方 Skill、接文档 MCP，用的就是它们。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很多同学会问，在 Claude Code、Codex 里怎么用？先澄清一个误区：Jev 替换不了这些编码助手背后的模型。正确的分工是：编码助手负责写"调用 Jev 的代码"，Jev 在你的应用里做判断。
Claude Code 两条命令装官方插件，Codex 和 Cursor 一条 `npx skills add` 命令，这就是我们前面讲的 Skill。装好之后，在 Claude Code 里输入 `/typesafe:typesafe-ai`，或者在提示词里写"use the TypeSafe skill"。
推荐的第一条提示词是：让它扫一遍项目，列出哪些写得很脆弱的匹配规则、或者要求 AI 输出固定格式的地方，可以换成判断，先给清单，别改代码。进阶的话社区还有"让 Jev 当代码评审官"的插件，以及给 Claude Code 命令加闸门的 hook，这些是第三方项目，大家感兴趣会后找我。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说完好的，说坑。第一，官方那个 68% 的准确率，衡量的是"和两个前沿大模型一致的程度"，不是真值。第二，如果你有标注数据，先训一个传统小模型，有个银行客服题库上，传统小模型 93.3%，比 Jev 的 83.2% 还高。第三，简单规则可能更准：识别钓鱼邮件，两条文本匹配规则 91.8%，Jev 才 62.6%。
还有一个作者很坦诚：他把 Jev 塞进自己的四个日常工具，全失败。原因是它看不到内容，而且订阅制没有省钱的空间。所以结论是：它是给做产品的人的零件，不是给用工具的人提效的东西。
右边是六个坑和对策：数学、日期先在代码里算好再给它；材料越杂越不准，先裁剪；中文不如英文，用真实中文样本盲测；提示词注入要有硬规则兜底；有偏向第一个选项的倾向，测试时打乱顺序；它只给概率不给理由，需要审计就另外记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怎么落地？三步。盘点：把你们业务里"其实只返回一个选项"的调用列出来，一个都没有，就别追这个热点。盲测：拿 30 条以上真实旧数据，人工先标好答案，用同一套题测，按把握度 0.9 和 0.7 切成三档，看每一档各对多少——高把握那一档几乎不能错。双轨：旧规则照跑，Jev 只记日志，跑一周，看两者在哪些样本上打架，再把高把握且一致的部分切成自动。
右边两张图，一张是上线前的检查清单，一张是双轨上线的图解。退款、删除、对外发送，永远要有规则拦着。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最后，我想用一个好玩的演示，把今天讲的东西串起来。它参考的是 GitHub 上一个开源项目，叫 shapeshift：一个输入框，你打一句话，它自己变成合适的小工具。原版是英文的，我改成了中文。
它的分工很清楚：Jev 只管判断——你想建的是日程、提醒、记账还是投票？急不急？是线下还是视频会议？一次请求、8 道题并行。所有要"算"的东西都交给代码：明天是几号、2400 除以 3、5 英里是多少公里。原作者有句口号："Jev decides, code computes."——Jev 判断，代码计算。
更有意思的是右边：把握度直接决定界面。把握低，它就不打扰你；中等，给你一个半透明的虚影，你按 Tab 才确认；两种可能差不多，它不替你猜，直接给两个按钮让你选。这其实就是第 15 页"按把握分流"，只不过用在了界面上。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（点"明天中午和小王、小李吃饭"）你看，它变成了一张日程卡：10 月 29 号周四中午 12 点，和小王、小李。左边是 Jev 判断的：日程，98%。注意，日期和人名不是 Jev 给的，是代码算的——Jev 只告诉代码"这是一个日程"。
（点"周五晚上8点和产品组开腾讯会议"）同样是日程，但这次 Jev 的另一个信号说"这是视频会议"，卡片就显示视频会议。
（点"提醒我明天交房租，很急"）变成提醒，而且紧急度越过了阈值，亮了一个"紧急"。
（连点几个：AA、换算、投票、倒数日、骰子）每一种都是一次请求，两三百毫秒。
（点"活动页可以加个倒计时"）这句最有意思：你是想记个想法，还是要个倒数日？Jev 只有一半把握，所以它没有直接替你建卡，只给了一个半透明的虚影，你按 Tab 才算数。这就是"按把握分流"用在界面上。
（自己慢慢打一句，比如"明天下午三点和老板过方案"）刚打两个字，它不打扰你；信息够了，才变形。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总结三句。一，Jev 不是更便宜的大模型，是只会涂答题卡的判断零件，赢在稳定的低延迟、带把握度的答案、几乎免费的输出。二，最值钱的用法是按把握分流。三，先盲测，再双轨，别急着 All in，今天好用的多是接口，不是成品。
最后留个作业：会后把你业务里"只要返回一个选项"的场景发给我，我们一起挑一个做盲测。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我的分享就到这里，谢谢大家！有问题随时提。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eg"/><Relationship Id="rId3" Type="http://schemas.openxmlformats.org/officeDocument/2006/relationships/image" Target="../media/image-2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image" Target="../media/image-3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TECH TALK · JEV · SYSTEM ONE MODEL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3716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一个不写字的 AI</a:t>
            </a:r>
            <a:endParaRPr lang="en-US" sz="46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331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Jev：给程序做判断的模型</a:t>
            </a:r>
            <a:endParaRPr lang="en-US" sz="2200" dirty="0"/>
          </a:p>
        </p:txBody>
      </p:sp>
      <p:sp>
        <p:nvSpPr>
          <p:cNvPr id="5" name="cover-quote"/>
          <p:cNvSpPr/>
          <p:nvPr/>
        </p:nvSpPr>
        <p:spPr>
          <a:xfrm>
            <a:off x="548640" y="3200400"/>
            <a:ext cx="5303520" cy="1188720"/>
          </a:xfrm>
          <a:prstGeom prst="roundRect">
            <a:avLst>
              <a:gd name="adj" fmla="val 7692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6" name="cover-quote-text"/>
          <p:cNvSpPr txBox="1"/>
          <p:nvPr/>
        </p:nvSpPr>
        <p:spPr>
          <a:xfrm>
            <a:off x="777240" y="3200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ChatGPT 给人写答案，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Jev 给程序做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判断</a:t>
            </a:r>
            <a:r>
              <a:rPr lang="en-US" sz="2200" dirty="0">
                <a:solidFill>
                  <a:schemeClr val="tx1"/>
                </a:solidFill>
              </a:rPr>
              <a:t>。</a:t>
            </a:r>
            <a:endParaRPr lang="en-US" sz="2200" dirty="0"/>
          </a:p>
        </p:txBody>
      </p:sp>
      <p:pic>
        <p:nvPicPr>
          <p:cNvPr id="7" name="machine.jpeg" descr="machin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920240"/>
            <a:ext cx="5330952" cy="2554415"/>
          </a:xfrm>
          <a:prstGeom prst="rect">
            <a:avLst/>
          </a:prstGeom>
        </p:spPr>
      </p:pic>
      <p:sp>
        <p:nvSpPr>
          <p:cNvPr id="8" name="machine.jpeg-frame"/>
          <p:cNvSpPr/>
          <p:nvPr/>
        </p:nvSpPr>
        <p:spPr>
          <a:xfrm>
            <a:off x="6309360" y="1920240"/>
            <a:ext cx="5330952" cy="2554415"/>
          </a:xfrm>
          <a:prstGeom prst="roundRect">
            <a:avLst>
              <a:gd name="adj" fmla="val 2148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9" name="cap"/>
          <p:cNvSpPr txBox="1"/>
          <p:nvPr/>
        </p:nvSpPr>
        <p:spPr>
          <a:xfrm>
            <a:off x="6309360" y="50292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 · Score · Yes/No —— ONE ANSWER. HOW SURE.</a:t>
            </a:r>
            <a:endParaRPr lang="en-US" sz="1000" dirty="0"/>
          </a:p>
        </p:txBody>
      </p:sp>
      <p:sp>
        <p:nvSpPr>
          <p:cNvPr id="10" name="cover-divider"/>
          <p:cNvSpPr/>
          <p:nvPr/>
        </p:nvSpPr>
        <p:spPr>
          <a:xfrm>
            <a:off x="548640" y="4754880"/>
            <a:ext cx="5303520" cy="9144"/>
          </a:xfrm>
          <a:prstGeom prst="rect">
            <a:avLst/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11" name="cover-meta-name"/>
          <p:cNvSpPr txBox="1"/>
          <p:nvPr/>
        </p:nvSpPr>
        <p:spPr>
          <a:xfrm>
            <a:off x="548640" y="48920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</a:rPr>
              <a:t>分享人    </a:t>
            </a:r>
            <a:r>
              <a:rPr lang="en-US" sz="2800" b="1" dirty="0">
                <a:solidFill>
                  <a:schemeClr val="tx1"/>
                </a:solidFill>
              </a:rPr>
              <a:t>黄冠豪</a:t>
            </a:r>
            <a:endParaRPr lang="en-US" sz="1200" dirty="0"/>
          </a:p>
        </p:txBody>
      </p:sp>
      <p:sp>
        <p:nvSpPr>
          <p:cNvPr id="12" name="cover-meta"/>
          <p:cNvSpPr txBox="1"/>
          <p:nvPr/>
        </p:nvSpPr>
        <p:spPr>
          <a:xfrm>
            <a:off x="548640" y="5440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研发中心 / 游戏平台项目部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今天的路线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node"/>
          <p:cNvSpPr/>
          <p:nvPr/>
        </p:nvSpPr>
        <p:spPr>
          <a:xfrm>
            <a:off x="548640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ode-text"/>
          <p:cNvSpPr txBox="1"/>
          <p:nvPr/>
        </p:nvSpPr>
        <p:spPr>
          <a:xfrm>
            <a:off x="64008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先备知识</a:t>
            </a:r>
            <a:endParaRPr lang="en-US" sz="1400" dirty="0"/>
          </a:p>
        </p:txBody>
      </p:sp>
      <p:sp>
        <p:nvSpPr>
          <p:cNvPr id="7" name="arrow"/>
          <p:cNvSpPr txBox="1"/>
          <p:nvPr/>
        </p:nvSpPr>
        <p:spPr>
          <a:xfrm>
            <a:off x="1737360" y="2057400"/>
            <a:ext cx="225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node"/>
          <p:cNvSpPr/>
          <p:nvPr/>
        </p:nvSpPr>
        <p:spPr>
          <a:xfrm>
            <a:off x="1963217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ode-text"/>
          <p:cNvSpPr txBox="1"/>
          <p:nvPr/>
        </p:nvSpPr>
        <p:spPr>
          <a:xfrm>
            <a:off x="2054657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认识 Jev</a:t>
            </a:r>
            <a:endParaRPr lang="en-US" sz="1400" dirty="0"/>
          </a:p>
        </p:txBody>
      </p:sp>
      <p:sp>
        <p:nvSpPr>
          <p:cNvPr id="10" name="arrow"/>
          <p:cNvSpPr txBox="1"/>
          <p:nvPr/>
        </p:nvSpPr>
        <p:spPr>
          <a:xfrm>
            <a:off x="3151937" y="2057400"/>
            <a:ext cx="225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node"/>
          <p:cNvSpPr/>
          <p:nvPr/>
        </p:nvSpPr>
        <p:spPr>
          <a:xfrm>
            <a:off x="3377794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ode-text"/>
          <p:cNvSpPr txBox="1"/>
          <p:nvPr/>
        </p:nvSpPr>
        <p:spPr>
          <a:xfrm>
            <a:off x="3469234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为什么值得用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快 · 省 · 准</a:t>
            </a:r>
            <a:endParaRPr lang="en-US" sz="1400" dirty="0"/>
          </a:p>
        </p:txBody>
      </p:sp>
      <p:sp>
        <p:nvSpPr>
          <p:cNvPr id="13" name="arrow"/>
          <p:cNvSpPr txBox="1"/>
          <p:nvPr/>
        </p:nvSpPr>
        <p:spPr>
          <a:xfrm>
            <a:off x="4566514" y="2057400"/>
            <a:ext cx="225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node"/>
          <p:cNvSpPr/>
          <p:nvPr/>
        </p:nvSpPr>
        <p:spPr>
          <a:xfrm>
            <a:off x="4792370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ode-text"/>
          <p:cNvSpPr txBox="1"/>
          <p:nvPr/>
        </p:nvSpPr>
        <p:spPr>
          <a:xfrm>
            <a:off x="488381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真实案例</a:t>
            </a:r>
            <a:endParaRPr lang="en-US" sz="1400" dirty="0"/>
          </a:p>
        </p:txBody>
      </p:sp>
      <p:sp>
        <p:nvSpPr>
          <p:cNvPr id="16" name="arrow"/>
          <p:cNvSpPr txBox="1"/>
          <p:nvPr/>
        </p:nvSpPr>
        <p:spPr>
          <a:xfrm>
            <a:off x="5981090" y="2057400"/>
            <a:ext cx="225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node"/>
          <p:cNvSpPr/>
          <p:nvPr/>
        </p:nvSpPr>
        <p:spPr>
          <a:xfrm>
            <a:off x="6206947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ode-text"/>
          <p:cNvSpPr txBox="1"/>
          <p:nvPr/>
        </p:nvSpPr>
        <p:spPr>
          <a:xfrm>
            <a:off x="6298387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以后用在哪</a:t>
            </a:r>
            <a:endParaRPr lang="en-US" sz="1400" dirty="0"/>
          </a:p>
        </p:txBody>
      </p:sp>
      <p:sp>
        <p:nvSpPr>
          <p:cNvPr id="19" name="arrow"/>
          <p:cNvSpPr txBox="1"/>
          <p:nvPr/>
        </p:nvSpPr>
        <p:spPr>
          <a:xfrm>
            <a:off x="7395667" y="2057400"/>
            <a:ext cx="225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node"/>
          <p:cNvSpPr/>
          <p:nvPr/>
        </p:nvSpPr>
        <p:spPr>
          <a:xfrm>
            <a:off x="7621524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node-text"/>
          <p:cNvSpPr txBox="1"/>
          <p:nvPr/>
        </p:nvSpPr>
        <p:spPr>
          <a:xfrm>
            <a:off x="7712964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上手</a:t>
            </a:r>
            <a:endParaRPr lang="en-US" sz="1400" dirty="0"/>
          </a:p>
        </p:txBody>
      </p:sp>
      <p:sp>
        <p:nvSpPr>
          <p:cNvPr id="22" name="arrow"/>
          <p:cNvSpPr txBox="1"/>
          <p:nvPr/>
        </p:nvSpPr>
        <p:spPr>
          <a:xfrm>
            <a:off x="8810244" y="2057400"/>
            <a:ext cx="225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node"/>
          <p:cNvSpPr/>
          <p:nvPr/>
        </p:nvSpPr>
        <p:spPr>
          <a:xfrm>
            <a:off x="9036101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node-text"/>
          <p:cNvSpPr txBox="1"/>
          <p:nvPr/>
        </p:nvSpPr>
        <p:spPr>
          <a:xfrm>
            <a:off x="9127541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水分与落地</a:t>
            </a:r>
            <a:endParaRPr lang="en-US" sz="1400" dirty="0"/>
          </a:p>
        </p:txBody>
      </p:sp>
      <p:sp>
        <p:nvSpPr>
          <p:cNvPr id="25" name="arrow"/>
          <p:cNvSpPr txBox="1"/>
          <p:nvPr/>
        </p:nvSpPr>
        <p:spPr>
          <a:xfrm>
            <a:off x="10224821" y="2057400"/>
            <a:ext cx="2258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node"/>
          <p:cNvSpPr/>
          <p:nvPr/>
        </p:nvSpPr>
        <p:spPr>
          <a:xfrm>
            <a:off x="10450678" y="1737360"/>
            <a:ext cx="1188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node-text"/>
          <p:cNvSpPr txBox="1"/>
          <p:nvPr/>
        </p:nvSpPr>
        <p:spPr>
          <a:xfrm>
            <a:off x="10542118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压轴演示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48640" y="3063240"/>
            <a:ext cx="35661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29" name="card-text"/>
          <p:cNvSpPr txBox="1"/>
          <p:nvPr/>
        </p:nvSpPr>
        <p:spPr>
          <a:xfrm>
            <a:off x="685800" y="31546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×5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四种题型 · 工单分流 · 输入即判 · 100 条并行分类 · 会变形的输入框</a:t>
            </a:r>
            <a:endParaRPr lang="en-US" sz="1000" dirty="0"/>
          </a:p>
        </p:txBody>
      </p:sp>
      <p:sp>
        <p:nvSpPr>
          <p:cNvPr id="30" name="card"/>
          <p:cNvSpPr/>
          <p:nvPr/>
        </p:nvSpPr>
        <p:spPr>
          <a:xfrm>
            <a:off x="4297680" y="3063240"/>
            <a:ext cx="356616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31" name="card-text"/>
          <p:cNvSpPr txBox="1"/>
          <p:nvPr/>
        </p:nvSpPr>
        <p:spPr>
          <a:xfrm>
            <a:off x="4434840" y="31546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POINT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一个判断题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你的代码里，有哪些调用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其实只是让模型选一个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000" dirty="0"/>
          </a:p>
        </p:txBody>
      </p:sp>
      <p:sp>
        <p:nvSpPr>
          <p:cNvPr id="32" name="card"/>
          <p:cNvSpPr/>
          <p:nvPr/>
        </p:nvSpPr>
        <p:spPr>
          <a:xfrm>
            <a:off x="8046720" y="3063240"/>
            <a:ext cx="35935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33" name="card-text"/>
          <p:cNvSpPr txBox="1"/>
          <p:nvPr/>
        </p:nvSpPr>
        <p:spPr>
          <a:xfrm>
            <a:off x="8183880" y="3154680"/>
            <a:ext cx="3319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不神化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官方数字、第三方实测、作者自报，分开讲清楚；Demo 全是现场真实调用</a:t>
            </a:r>
            <a:endParaRPr lang="en-US" sz="1000" dirty="0"/>
          </a:p>
        </p:txBody>
      </p:sp>
      <p:sp>
        <p:nvSpPr>
          <p:cNvPr id="34" name="takeaway"/>
          <p:cNvSpPr/>
          <p:nvPr/>
        </p:nvSpPr>
        <p:spPr>
          <a:xfrm>
            <a:off x="548640" y="534924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35" name="takeaway-text"/>
          <p:cNvSpPr txBox="1"/>
          <p:nvPr/>
        </p:nvSpPr>
        <p:spPr>
          <a:xfrm>
            <a:off x="731520" y="53492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全场一句话：程序里很多"判断"其实只是</a:t>
            </a:r>
            <a:r>
              <a:rPr lang="en-US" sz="1600" b="1" dirty="0">
                <a:solidFill>
                  <a:schemeClr val="tx1"/>
                </a:solidFill>
              </a:rPr>
              <a:t>选择题</a:t>
            </a:r>
            <a:r>
              <a:rPr lang="en-US" sz="1600" dirty="0">
                <a:solidFill>
                  <a:schemeClr val="tx1"/>
                </a:solidFill>
              </a:rPr>
              <a:t>，交给只会勾选项的模型来做——</a:t>
            </a:r>
            <a:r>
              <a:rPr lang="en-US" sz="1600" b="1" dirty="0">
                <a:solidFill>
                  <a:schemeClr val="tx1"/>
                </a:solidFill>
              </a:rPr>
              <a:t>更快、更省，还告诉你有几成把握</a:t>
            </a:r>
            <a:r>
              <a:rPr lang="en-US" sz="1600" dirty="0">
                <a:solidFill>
                  <a:schemeClr val="tx1"/>
                </a:solidFill>
              </a:rPr>
              <a:t>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大模型的本质：猜下一个词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先备知识 · 大模型</a:t>
            </a:r>
            <a:endParaRPr lang="en-US" sz="11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16459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（LLM，Large Language Model，如 ChatGPT、Claude）不是"查资料"，而是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：看前文，给每个候选词打概率，挑一个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挑完再来一轮，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每写一个字，就把前面所有内容再算一遍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所以它能写长文，但也因此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慢、贵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500 个字，这个"重读一遍再接一个字"的循环就要跑几百次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766560" y="1645920"/>
            <a:ext cx="4873752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7" name="card-text"/>
          <p:cNvSpPr txBox="1"/>
          <p:nvPr/>
        </p:nvSpPr>
        <p:spPr>
          <a:xfrm>
            <a:off x="6903720" y="173736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· 情景数据，示意</a:t>
            </a:r>
            <a:endParaRPr lang="en-US" sz="1000" dirty="0"/>
          </a:p>
        </p:txBody>
      </p:sp>
      <p:sp>
        <p:nvSpPr>
          <p:cNvPr id="8" name="prefix"/>
          <p:cNvSpPr txBox="1"/>
          <p:nvPr/>
        </p:nvSpPr>
        <p:spPr>
          <a:xfrm>
            <a:off x="6995160" y="2011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今天天气真</a:t>
            </a:r>
            <a:r>
              <a:rPr lang="en-US" sz="2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▍</a:t>
            </a:r>
            <a:endParaRPr lang="en-US" sz="2600" dirty="0"/>
          </a:p>
        </p:txBody>
      </p:sp>
      <p:sp>
        <p:nvSpPr>
          <p:cNvPr id="9" name="pb-label"/>
          <p:cNvSpPr txBox="1"/>
          <p:nvPr/>
        </p:nvSpPr>
        <p:spPr>
          <a:xfrm>
            <a:off x="6995160" y="27432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好</a:t>
            </a:r>
            <a:endParaRPr lang="en-US" sz="1500" dirty="0"/>
          </a:p>
        </p:txBody>
      </p:sp>
      <p:sp>
        <p:nvSpPr>
          <p:cNvPr id="10" name="pb-track"/>
          <p:cNvSpPr/>
          <p:nvPr/>
        </p:nvSpPr>
        <p:spPr>
          <a:xfrm>
            <a:off x="8229600" y="2825496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11" name="pb-fill"/>
          <p:cNvSpPr/>
          <p:nvPr/>
        </p:nvSpPr>
        <p:spPr>
          <a:xfrm>
            <a:off x="8229600" y="2825496"/>
            <a:ext cx="1587398" cy="1463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pb-value"/>
          <p:cNvSpPr txBox="1"/>
          <p:nvPr/>
        </p:nvSpPr>
        <p:spPr>
          <a:xfrm>
            <a:off x="10835640" y="27432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62%</a:t>
            </a:r>
            <a:endParaRPr lang="en-US" sz="1500" dirty="0"/>
          </a:p>
        </p:txBody>
      </p:sp>
      <p:sp>
        <p:nvSpPr>
          <p:cNvPr id="13" name="pb-label"/>
          <p:cNvSpPr txBox="1"/>
          <p:nvPr/>
        </p:nvSpPr>
        <p:spPr>
          <a:xfrm>
            <a:off x="6995160" y="3127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不错</a:t>
            </a:r>
            <a:endParaRPr lang="en-US" sz="1500" dirty="0"/>
          </a:p>
        </p:txBody>
      </p:sp>
      <p:sp>
        <p:nvSpPr>
          <p:cNvPr id="14" name="pb-track"/>
          <p:cNvSpPr/>
          <p:nvPr/>
        </p:nvSpPr>
        <p:spPr>
          <a:xfrm>
            <a:off x="8229600" y="3209544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15" name="pb-fill"/>
          <p:cNvSpPr/>
          <p:nvPr/>
        </p:nvSpPr>
        <p:spPr>
          <a:xfrm>
            <a:off x="8229600" y="3209544"/>
            <a:ext cx="537667" cy="1463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6" name="pb-value"/>
          <p:cNvSpPr txBox="1"/>
          <p:nvPr/>
        </p:nvSpPr>
        <p:spPr>
          <a:xfrm>
            <a:off x="10835640" y="31272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21%</a:t>
            </a:r>
            <a:endParaRPr lang="en-US" sz="1500" dirty="0"/>
          </a:p>
        </p:txBody>
      </p:sp>
      <p:sp>
        <p:nvSpPr>
          <p:cNvPr id="17" name="pb-label"/>
          <p:cNvSpPr txBox="1"/>
          <p:nvPr/>
        </p:nvSpPr>
        <p:spPr>
          <a:xfrm>
            <a:off x="6995160" y="35112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热</a:t>
            </a:r>
            <a:endParaRPr lang="en-US" sz="1500" dirty="0"/>
          </a:p>
        </p:txBody>
      </p:sp>
      <p:sp>
        <p:nvSpPr>
          <p:cNvPr id="18" name="pb-track"/>
          <p:cNvSpPr/>
          <p:nvPr/>
        </p:nvSpPr>
        <p:spPr>
          <a:xfrm>
            <a:off x="8229600" y="3593592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19" name="pb-fill"/>
          <p:cNvSpPr/>
          <p:nvPr/>
        </p:nvSpPr>
        <p:spPr>
          <a:xfrm>
            <a:off x="8229600" y="3593592"/>
            <a:ext cx="230429" cy="1463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0" name="pb-value"/>
          <p:cNvSpPr txBox="1"/>
          <p:nvPr/>
        </p:nvSpPr>
        <p:spPr>
          <a:xfrm>
            <a:off x="10835640" y="351129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9%</a:t>
            </a:r>
            <a:endParaRPr lang="en-US" sz="1500" dirty="0"/>
          </a:p>
        </p:txBody>
      </p:sp>
      <p:sp>
        <p:nvSpPr>
          <p:cNvPr id="21" name="pb-label"/>
          <p:cNvSpPr txBox="1"/>
          <p:nvPr/>
        </p:nvSpPr>
        <p:spPr>
          <a:xfrm>
            <a:off x="6995160" y="38953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冷</a:t>
            </a:r>
            <a:endParaRPr lang="en-US" sz="1500" dirty="0"/>
          </a:p>
        </p:txBody>
      </p:sp>
      <p:sp>
        <p:nvSpPr>
          <p:cNvPr id="22" name="pb-track"/>
          <p:cNvSpPr/>
          <p:nvPr/>
        </p:nvSpPr>
        <p:spPr>
          <a:xfrm>
            <a:off x="8229600" y="3977640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23" name="pb-fill"/>
          <p:cNvSpPr/>
          <p:nvPr/>
        </p:nvSpPr>
        <p:spPr>
          <a:xfrm>
            <a:off x="8229600" y="3977640"/>
            <a:ext cx="128016" cy="146304"/>
          </a:xfrm>
          <a:prstGeom prst="roundRect">
            <a:avLst>
              <a:gd name="adj" fmla="val 57143"/>
            </a:avLst>
          </a:prstGeom>
          <a:solidFill>
            <a:schemeClr val="accent6"/>
          </a:solidFill>
          <a:ln/>
        </p:spPr>
      </p:sp>
      <p:sp>
        <p:nvSpPr>
          <p:cNvPr id="24" name="pb-value"/>
          <p:cNvSpPr txBox="1"/>
          <p:nvPr/>
        </p:nvSpPr>
        <p:spPr>
          <a:xfrm>
            <a:off x="10835640" y="389534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500" dirty="0"/>
          </a:p>
        </p:txBody>
      </p:sp>
      <p:sp>
        <p:nvSpPr>
          <p:cNvPr id="25" name="pb-label"/>
          <p:cNvSpPr txBox="1"/>
          <p:nvPr/>
        </p:nvSpPr>
        <p:spPr>
          <a:xfrm>
            <a:off x="6995160" y="4279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糟</a:t>
            </a:r>
            <a:endParaRPr lang="en-US" sz="1500" dirty="0"/>
          </a:p>
        </p:txBody>
      </p:sp>
      <p:sp>
        <p:nvSpPr>
          <p:cNvPr id="26" name="pb-track"/>
          <p:cNvSpPr/>
          <p:nvPr/>
        </p:nvSpPr>
        <p:spPr>
          <a:xfrm>
            <a:off x="8229600" y="4361688"/>
            <a:ext cx="2560320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27" name="pb-fill"/>
          <p:cNvSpPr/>
          <p:nvPr/>
        </p:nvSpPr>
        <p:spPr>
          <a:xfrm>
            <a:off x="8229600" y="4361688"/>
            <a:ext cx="76810" cy="146304"/>
          </a:xfrm>
          <a:prstGeom prst="roundRect">
            <a:avLst>
              <a:gd name="adj" fmla="val 95238"/>
            </a:avLst>
          </a:prstGeom>
          <a:solidFill>
            <a:schemeClr val="accent6"/>
          </a:solidFill>
          <a:ln/>
        </p:spPr>
      </p:sp>
      <p:sp>
        <p:nvSpPr>
          <p:cNvPr id="28" name="pb-value"/>
          <p:cNvSpPr txBox="1"/>
          <p:nvPr/>
        </p:nvSpPr>
        <p:spPr>
          <a:xfrm>
            <a:off x="10835640" y="42793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3%</a:t>
            </a:r>
            <a:endParaRPr lang="en-US" sz="1500" dirty="0"/>
          </a:p>
        </p:txBody>
      </p:sp>
      <p:sp>
        <p:nvSpPr>
          <p:cNvPr id="29" name="cap"/>
          <p:cNvSpPr txBox="1"/>
          <p:nvPr/>
        </p:nvSpPr>
        <p:spPr>
          <a:xfrm>
            <a:off x="6995160" y="4846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每写一个字，就把前面所有内容再算一遍</a:t>
            </a:r>
            <a:endParaRPr lang="en-US" sz="1200" dirty="0"/>
          </a:p>
        </p:txBody>
      </p:sp>
      <p:sp>
        <p:nvSpPr>
          <p:cNvPr id="30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31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Jev 只做「打概率」这一步，</a:t>
            </a:r>
            <a:r>
              <a:rPr lang="en-US" sz="1600" b="1" dirty="0">
                <a:solidFill>
                  <a:schemeClr val="tx1"/>
                </a:solidFill>
              </a:rPr>
              <a:t>一个字也不往下写</a:t>
            </a:r>
            <a:r>
              <a:rPr lang="en-US" sz="1600" dirty="0">
                <a:solidFill>
                  <a:schemeClr val="tx1"/>
                </a:solidFill>
              </a:rPr>
              <a:t>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与上下文：计费字节和白板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先备知识 · Token 与上下文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120640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7373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· 示意</a:t>
            </a:r>
            <a:endParaRPr lang="en-US" sz="1000" dirty="0"/>
          </a:p>
        </p:txBody>
      </p:sp>
      <p:sp>
        <p:nvSpPr>
          <p:cNvPr id="7" name="tok-src"/>
          <p:cNvSpPr txBox="1"/>
          <p:nvPr/>
        </p:nvSpPr>
        <p:spPr>
          <a:xfrm>
            <a:off x="7772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原文：我的月订阅被扣了两次款</a:t>
            </a:r>
            <a:endParaRPr lang="en-US" sz="1400" dirty="0"/>
          </a:p>
        </p:txBody>
      </p:sp>
      <p:sp>
        <p:nvSpPr>
          <p:cNvPr id="8" name="tok"/>
          <p:cNvSpPr/>
          <p:nvPr/>
        </p:nvSpPr>
        <p:spPr>
          <a:xfrm>
            <a:off x="777240" y="2560320"/>
            <a:ext cx="822960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ok-text"/>
          <p:cNvSpPr txBox="1"/>
          <p:nvPr/>
        </p:nvSpPr>
        <p:spPr>
          <a:xfrm>
            <a:off x="777240" y="25603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我的</a:t>
            </a:r>
            <a:endParaRPr lang="en-US" sz="1800" dirty="0"/>
          </a:p>
        </p:txBody>
      </p:sp>
      <p:sp>
        <p:nvSpPr>
          <p:cNvPr id="10" name="tok"/>
          <p:cNvSpPr/>
          <p:nvPr/>
        </p:nvSpPr>
        <p:spPr>
          <a:xfrm>
            <a:off x="1691640" y="2560320"/>
            <a:ext cx="548640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2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" name="tok-text"/>
          <p:cNvSpPr txBox="1"/>
          <p:nvPr/>
        </p:nvSpPr>
        <p:spPr>
          <a:xfrm>
            <a:off x="1691640" y="25603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月</a:t>
            </a:r>
            <a:endParaRPr lang="en-US" sz="1800" dirty="0"/>
          </a:p>
        </p:txBody>
      </p:sp>
      <p:sp>
        <p:nvSpPr>
          <p:cNvPr id="12" name="tok"/>
          <p:cNvSpPr/>
          <p:nvPr/>
        </p:nvSpPr>
        <p:spPr>
          <a:xfrm>
            <a:off x="2331720" y="2560320"/>
            <a:ext cx="822960" cy="438912"/>
          </a:xfrm>
          <a:prstGeom prst="roundRect">
            <a:avLst>
              <a:gd name="adj" fmla="val 12500"/>
            </a:avLst>
          </a:prstGeom>
          <a:solidFill>
            <a:schemeClr val="accent3">
              <a:alpha val="2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ok-text"/>
          <p:cNvSpPr txBox="1"/>
          <p:nvPr/>
        </p:nvSpPr>
        <p:spPr>
          <a:xfrm>
            <a:off x="2331720" y="256032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订阅</a:t>
            </a:r>
            <a:endParaRPr lang="en-US" sz="1800" dirty="0"/>
          </a:p>
        </p:txBody>
      </p:sp>
      <p:sp>
        <p:nvSpPr>
          <p:cNvPr id="14" name="tok"/>
          <p:cNvSpPr/>
          <p:nvPr/>
        </p:nvSpPr>
        <p:spPr>
          <a:xfrm>
            <a:off x="3246120" y="2560320"/>
            <a:ext cx="548640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ok-text"/>
          <p:cNvSpPr txBox="1"/>
          <p:nvPr/>
        </p:nvSpPr>
        <p:spPr>
          <a:xfrm>
            <a:off x="3246120" y="25603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被</a:t>
            </a:r>
            <a:endParaRPr lang="en-US" sz="1800" dirty="0"/>
          </a:p>
        </p:txBody>
      </p:sp>
      <p:sp>
        <p:nvSpPr>
          <p:cNvPr id="16" name="tok"/>
          <p:cNvSpPr/>
          <p:nvPr/>
        </p:nvSpPr>
        <p:spPr>
          <a:xfrm>
            <a:off x="3886200" y="2560320"/>
            <a:ext cx="548640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2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ok-text"/>
          <p:cNvSpPr txBox="1"/>
          <p:nvPr/>
        </p:nvSpPr>
        <p:spPr>
          <a:xfrm>
            <a:off x="3886200" y="25603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扣</a:t>
            </a:r>
            <a:endParaRPr lang="en-US" sz="1800" dirty="0"/>
          </a:p>
        </p:txBody>
      </p:sp>
      <p:sp>
        <p:nvSpPr>
          <p:cNvPr id="18" name="tok"/>
          <p:cNvSpPr/>
          <p:nvPr/>
        </p:nvSpPr>
        <p:spPr>
          <a:xfrm>
            <a:off x="4526280" y="2560320"/>
            <a:ext cx="548640" cy="438912"/>
          </a:xfrm>
          <a:prstGeom prst="roundRect">
            <a:avLst>
              <a:gd name="adj" fmla="val 12500"/>
            </a:avLst>
          </a:prstGeom>
          <a:solidFill>
            <a:schemeClr val="accent3">
              <a:alpha val="20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tok-text"/>
          <p:cNvSpPr txBox="1"/>
          <p:nvPr/>
        </p:nvSpPr>
        <p:spPr>
          <a:xfrm>
            <a:off x="4526280" y="25603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了</a:t>
            </a:r>
            <a:endParaRPr lang="en-US" sz="1800" dirty="0"/>
          </a:p>
        </p:txBody>
      </p:sp>
      <p:sp>
        <p:nvSpPr>
          <p:cNvPr id="20" name="tok"/>
          <p:cNvSpPr/>
          <p:nvPr/>
        </p:nvSpPr>
        <p:spPr>
          <a:xfrm>
            <a:off x="777240" y="3108960"/>
            <a:ext cx="822960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ok-text"/>
          <p:cNvSpPr txBox="1"/>
          <p:nvPr/>
        </p:nvSpPr>
        <p:spPr>
          <a:xfrm>
            <a:off x="777240" y="310896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两次</a:t>
            </a:r>
            <a:endParaRPr lang="en-US" sz="1800" dirty="0"/>
          </a:p>
        </p:txBody>
      </p:sp>
      <p:sp>
        <p:nvSpPr>
          <p:cNvPr id="22" name="tok"/>
          <p:cNvSpPr/>
          <p:nvPr/>
        </p:nvSpPr>
        <p:spPr>
          <a:xfrm>
            <a:off x="1691640" y="3108960"/>
            <a:ext cx="548640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2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tok-text"/>
          <p:cNvSpPr txBox="1"/>
          <p:nvPr/>
        </p:nvSpPr>
        <p:spPr>
          <a:xfrm>
            <a:off x="1691640" y="31089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款</a:t>
            </a:r>
            <a:endParaRPr lang="en-US" sz="1800" dirty="0"/>
          </a:p>
        </p:txBody>
      </p:sp>
      <p:sp>
        <p:nvSpPr>
          <p:cNvPr id="24" name="tok-count"/>
          <p:cNvSpPr txBox="1"/>
          <p:nvPr/>
        </p:nvSpPr>
        <p:spPr>
          <a:xfrm>
            <a:off x="77724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800" dirty="0">
                <a:solidFill>
                  <a:schemeClr val="tx2"/>
                </a:solidFill>
              </a:rPr>
              <a:t> 个 token</a:t>
            </a:r>
            <a:endParaRPr lang="en-US" sz="4000" dirty="0"/>
          </a:p>
        </p:txBody>
      </p:sp>
      <p:sp>
        <p:nvSpPr>
          <p:cNvPr id="25" name="cap"/>
          <p:cNvSpPr txBox="1"/>
          <p:nvPr/>
        </p:nvSpPr>
        <p:spPr>
          <a:xfrm>
            <a:off x="777240" y="4937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真实切分因模型而异，可在 OpenAI 的切词工具里现场试</a:t>
            </a:r>
            <a:endParaRPr lang="en-US" sz="1200" dirty="0"/>
          </a:p>
        </p:txBody>
      </p:sp>
      <p:sp>
        <p:nvSpPr>
          <p:cNvPr id="26" name="token-text"/>
          <p:cNvSpPr txBox="1"/>
          <p:nvPr/>
        </p:nvSpPr>
        <p:spPr>
          <a:xfrm>
            <a:off x="5943600" y="1691640"/>
            <a:ext cx="5696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Token（词元）= 模型的"计费字节"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模型读的不是"字"，是</a:t>
            </a:r>
            <a:r>
              <a:rPr lang="en-US" sz="1500" b="1" dirty="0">
                <a:solidFill>
                  <a:schemeClr val="tx1"/>
                </a:solidFill>
              </a:rPr>
              <a:t>片段</a:t>
            </a:r>
            <a:r>
              <a:rPr lang="en-US" sz="1500" dirty="0">
                <a:solidFill>
                  <a:schemeClr val="tx1"/>
                </a:solidFill>
              </a:rPr>
              <a:t>；计费、长度上限都按它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中文通常比英文更费；</a:t>
            </a:r>
            <a:r>
              <a:rPr lang="en-US" sz="1500" b="1" dirty="0">
                <a:solidFill>
                  <a:schemeClr val="tx1"/>
                </a:solidFill>
              </a:rPr>
              <a:t>输出 token 一般比输入贵好几倍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上下文窗口（Context Window）= 一块"白板"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一次能看多少，写满就擦最早的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"它记得你"其实是</a:t>
            </a:r>
            <a:r>
              <a:rPr lang="en-US" sz="1500" b="1" dirty="0">
                <a:solidFill>
                  <a:schemeClr val="tx1"/>
                </a:solidFill>
              </a:rPr>
              <a:t>每次把历史重发一遍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材料越长越杂，反而越不准</a:t>
            </a:r>
            <a:endParaRPr lang="en-US" sz="1700" dirty="0"/>
          </a:p>
        </p:txBody>
      </p:sp>
      <p:sp>
        <p:nvSpPr>
          <p:cNvPr id="27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28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Jev：输入 $0.042 / 百万 token，</a:t>
            </a:r>
            <a:r>
              <a:rPr lang="en-US" sz="1600" b="1" dirty="0">
                <a:solidFill>
                  <a:schemeClr val="tx1"/>
                </a:solidFill>
              </a:rPr>
              <a:t>输出免费</a:t>
            </a:r>
            <a:r>
              <a:rPr lang="en-US" sz="1600" dirty="0">
                <a:solidFill>
                  <a:schemeClr val="tx1"/>
                </a:solidFill>
              </a:rPr>
              <a:t>；一次约能看 3.2 万 token（约两三万汉字）的材料。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与幻觉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先备知识 · Prompt 与幻觉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440680" cy="374904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73736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Prompt（提示词）：写给模型的"需求说明"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写得像给新同事讲判断标准，效果最好。分「系统提示」（定规矩）和「用户提示」（给任务）两层。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前端类比：接口文档 / 需求单</a:t>
            </a:r>
            <a:endParaRPr lang="en-US" sz="1000" dirty="0"/>
          </a:p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Jev 里</a:t>
            </a: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：变成"题目说明 + 选项说明"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6199632" y="1645920"/>
            <a:ext cx="5440680" cy="374904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336792" y="173736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HALLUCINATION · 幻觉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幻觉：不会的题，硬写一个"像对的"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因为它在</a:t>
            </a: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</a:t>
            </a: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，不是在</a:t>
            </a: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查事实</a:t>
            </a: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：编事实、编引用、格式飘。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前端类比：没有类型检查的 any（TS 的"任意类型"），什么都能吐</a:t>
            </a:r>
            <a:endParaRPr lang="en-US" sz="1000" dirty="0"/>
          </a:p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Jev 里</a:t>
            </a: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："零幻觉"= 答案被锁在你给的选项里。</a:t>
            </a: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不等于选对</a:t>
            </a:r>
            <a:r>
              <a:rPr lang="en-US" sz="19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9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0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先记住这句：</a:t>
            </a:r>
            <a:r>
              <a:rPr lang="en-US" sz="1600" b="1" dirty="0">
                <a:solidFill>
                  <a:schemeClr val="tx1"/>
                </a:solidFill>
              </a:rPr>
              <a:t>格式上不会错，不代表内容上不会错</a:t>
            </a:r>
            <a:r>
              <a:rPr lang="en-US" sz="1600" dirty="0">
                <a:solidFill>
                  <a:schemeClr val="tx1"/>
                </a:solidFill>
              </a:rPr>
              <a:t>——后面会反复回扣。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Agent（智能体）：大模型 + 工具 + 循环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先备知识 · Agent</a:t>
            </a:r>
            <a:endParaRPr lang="en-US" sz="1100" dirty="0"/>
          </a:p>
        </p:txBody>
      </p:sp>
      <p:sp>
        <p:nvSpPr>
          <p:cNvPr id="5" name="node"/>
          <p:cNvSpPr/>
          <p:nvPr/>
        </p:nvSpPr>
        <p:spPr>
          <a:xfrm>
            <a:off x="2011680" y="1554480"/>
            <a:ext cx="2651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ode-text"/>
          <p:cNvSpPr txBox="1"/>
          <p:nvPr/>
        </p:nvSpPr>
        <p:spPr>
          <a:xfrm>
            <a:off x="2103120" y="1554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想：下一步做什么？</a:t>
            </a:r>
            <a:endParaRPr lang="en-US" sz="1400" dirty="0"/>
          </a:p>
        </p:txBody>
      </p:sp>
      <p:sp>
        <p:nvSpPr>
          <p:cNvPr id="7" name="arrow"/>
          <p:cNvSpPr txBox="1"/>
          <p:nvPr/>
        </p:nvSpPr>
        <p:spPr>
          <a:xfrm>
            <a:off x="46634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node"/>
          <p:cNvSpPr/>
          <p:nvPr/>
        </p:nvSpPr>
        <p:spPr>
          <a:xfrm>
            <a:off x="5029200" y="1554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ode-text"/>
          <p:cNvSpPr txBox="1"/>
          <p:nvPr/>
        </p:nvSpPr>
        <p:spPr>
          <a:xfrm>
            <a:off x="5120640" y="1554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做：调用工具</a:t>
            </a:r>
            <a:endParaRPr lang="en-US" sz="1400" dirty="0"/>
          </a:p>
        </p:txBody>
      </p:sp>
      <p:sp>
        <p:nvSpPr>
          <p:cNvPr id="10" name="arrow"/>
          <p:cNvSpPr txBox="1"/>
          <p:nvPr/>
        </p:nvSpPr>
        <p:spPr>
          <a:xfrm>
            <a:off x="72237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node"/>
          <p:cNvSpPr/>
          <p:nvPr/>
        </p:nvSpPr>
        <p:spPr>
          <a:xfrm>
            <a:off x="7589520" y="1554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de-text"/>
          <p:cNvSpPr txBox="1"/>
          <p:nvPr/>
        </p:nvSpPr>
        <p:spPr>
          <a:xfrm>
            <a:off x="7680960" y="1554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看：返回结果</a:t>
            </a:r>
            <a:endParaRPr lang="en-US" sz="1400" dirty="0"/>
          </a:p>
        </p:txBody>
      </p:sp>
      <p:sp>
        <p:nvSpPr>
          <p:cNvPr id="13" name="loop"/>
          <p:cNvSpPr txBox="1"/>
          <p:nvPr/>
        </p:nvSpPr>
        <p:spPr>
          <a:xfrm>
            <a:off x="987552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↺ 重复，直到做完</a:t>
            </a:r>
            <a:endParaRPr lang="en-US" sz="1300" dirty="0"/>
          </a:p>
        </p:txBody>
      </p:sp>
      <p:sp>
        <p:nvSpPr>
          <p:cNvPr id="14" name="bullets"/>
          <p:cNvSpPr txBox="1"/>
          <p:nvPr/>
        </p:nvSpPr>
        <p:spPr>
          <a:xfrm>
            <a:off x="548640" y="237744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Agent（智能体）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能自己一步步把事做完的 AI 程序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例："订周五去上海的机票"：先搜航班？先问预算？返回 12 条，选哪个？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模型不会真的点按钮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，它只说"我要调用某个工具"（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），真正执行的是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你的代码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你已在用的：Claude Code、Codex、Cursor（写代码的 AI 助手）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前端类比：dispatch(action) 派发动作，reducer 才真正改状态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858000" y="2377440"/>
            <a:ext cx="4782312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card-text"/>
          <p:cNvSpPr txBox="1"/>
          <p:nvPr/>
        </p:nvSpPr>
        <p:spPr>
          <a:xfrm>
            <a:off x="6995160" y="2468880"/>
            <a:ext cx="45079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PAIN · 痛点</a:t>
            </a:r>
            <a:endParaRPr lang="en-US" sz="1000" dirty="0"/>
          </a:p>
        </p:txBody>
      </p:sp>
      <p:sp>
        <p:nvSpPr>
          <p:cNvPr id="17" name="pain"/>
          <p:cNvSpPr txBox="1"/>
          <p:nvPr/>
        </p:nvSpPr>
        <p:spPr>
          <a:xfrm>
            <a:off x="7086600" y="269748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r>
              <a:rPr lang="en-US" sz="1600" dirty="0">
                <a:solidFill>
                  <a:schemeClr val="tx2"/>
                </a:solidFill>
              </a:rPr>
              <a:t> 秒 / 步</a:t>
            </a:r>
            <a:endParaRPr lang="en-US" sz="4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一个任务几十步，每一步"想下一步做什么"都问一次大模型</a:t>
            </a:r>
            <a:endParaRPr lang="en-US" sz="4800" dirty="0"/>
          </a:p>
        </p:txBody>
      </p:sp>
      <p:sp>
        <p:nvSpPr>
          <p:cNvPr id="18" name="takeaway"/>
          <p:cNvSpPr/>
          <p:nvPr/>
        </p:nvSpPr>
        <p:spPr>
          <a:xfrm>
            <a:off x="7086600" y="4846320"/>
            <a:ext cx="4343400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9" name="takeaway-text"/>
          <p:cNvSpPr txBox="1"/>
          <p:nvPr/>
        </p:nvSpPr>
        <p:spPr>
          <a:xfrm>
            <a:off x="7269480" y="48463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每一步都是一道</a:t>
            </a:r>
            <a:r>
              <a:rPr lang="en-US" sz="1500" b="1" dirty="0">
                <a:solidFill>
                  <a:schemeClr val="tx1"/>
                </a:solidFill>
              </a:rPr>
              <a:t>选择题</a:t>
            </a:r>
            <a:r>
              <a:rPr lang="en-US" sz="1500" dirty="0">
                <a:solidFill>
                  <a:schemeClr val="tx1"/>
                </a:solidFill>
              </a:rPr>
              <a:t>，却在用</a:t>
            </a:r>
            <a:r>
              <a:rPr lang="en-US" sz="1500" b="1" dirty="0">
                <a:solidFill>
                  <a:schemeClr val="tx1"/>
                </a:solidFill>
              </a:rPr>
              <a:t>写作文</a:t>
            </a:r>
            <a:r>
              <a:rPr lang="en-US" sz="1500" dirty="0">
                <a:solidFill>
                  <a:schemeClr val="tx1"/>
                </a:solidFill>
              </a:rPr>
              <a:t>的模型来答。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Jev 是什么：只会做选择题的 AI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认识 Jev · 它是什么</a:t>
            </a:r>
            <a:endParaRPr lang="en-US" sz="1100" dirty="0"/>
          </a:p>
        </p:txBody>
      </p:sp>
      <p:pic>
        <p:nvPicPr>
          <p:cNvPr id="5" name="compare.jpg" descr="comp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035040" cy="3372522"/>
          </a:xfrm>
          <a:prstGeom prst="rect">
            <a:avLst/>
          </a:prstGeom>
        </p:spPr>
      </p:pic>
      <p:sp>
        <p:nvSpPr>
          <p:cNvPr id="6" name="compare.jpg-frame"/>
          <p:cNvSpPr/>
          <p:nvPr/>
        </p:nvSpPr>
        <p:spPr>
          <a:xfrm>
            <a:off x="548640" y="1645920"/>
            <a:ext cx="6035040" cy="3372522"/>
          </a:xfrm>
          <a:prstGeom prst="roundRect">
            <a:avLst>
              <a:gd name="adj" fmla="val 1627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6858000" y="1645920"/>
            <a:ext cx="478231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995160" y="17373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One（系统一）= 快判断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卡尼曼的"快思考"：靠直觉做选择、分流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858000" y="2880360"/>
            <a:ext cx="478231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6995160" y="2971800"/>
            <a:ext cx="4507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不能做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：聊天 · 写文案 · 写代码 · 描述图片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官网：Not a generative chat model；带图的 Box 题仍是原型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858000" y="4160520"/>
            <a:ext cx="478231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6995160" y="4251960"/>
            <a:ext cx="4507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谁做的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：TypeSafe AI（旧金山），创始人来自 OpenAI（ChatGPT 的公司）</a:t>
            </a:r>
            <a:endParaRPr lang="en-US" sz="1600" dirty="0"/>
          </a:p>
        </p:txBody>
      </p:sp>
      <p:sp>
        <p:nvSpPr>
          <p:cNvPr id="13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4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它不会写，所以</a:t>
            </a:r>
            <a:r>
              <a:rPr lang="en-US" sz="1600" b="1" dirty="0">
                <a:solidFill>
                  <a:schemeClr val="tx1"/>
                </a:solidFill>
              </a:rPr>
              <a:t>可以又快又便宜</a:t>
            </a:r>
            <a:r>
              <a:rPr lang="en-US" sz="1600" dirty="0">
                <a:solidFill>
                  <a:schemeClr val="tx1"/>
                </a:solidFill>
              </a:rPr>
              <a:t>——这是一个取舍，不是缺陷。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题型：是非、单选、打分，外加 box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认识 Jev · 题型</a:t>
            </a:r>
            <a:endParaRPr lang="en-US" sz="1100" dirty="0"/>
          </a:p>
        </p:txBody>
      </p:sp>
      <p:pic>
        <p:nvPicPr>
          <p:cNvPr id="5" name="types.jpg" descr="typ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035040" cy="3372522"/>
          </a:xfrm>
          <a:prstGeom prst="rect">
            <a:avLst/>
          </a:prstGeom>
        </p:spPr>
      </p:pic>
      <p:sp>
        <p:nvSpPr>
          <p:cNvPr id="6" name="types.jpg-frame"/>
          <p:cNvSpPr/>
          <p:nvPr/>
        </p:nvSpPr>
        <p:spPr>
          <a:xfrm>
            <a:off x="548640" y="1645920"/>
            <a:ext cx="6035040" cy="3372522"/>
          </a:xfrm>
          <a:prstGeom prst="roundRect">
            <a:avLst>
              <a:gd name="adj" fmla="val 1627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6858000" y="1600200"/>
            <a:ext cx="47823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995160" y="1691640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NOUL · 是非题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只回答"是"的概率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例：这条工单紧急吗？→ 0.94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6858000" y="2606040"/>
            <a:ext cx="47823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6995160" y="2697480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 · 单选题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255 个选项，</a:t>
            </a: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不会凭空多出第四个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例：该转给哪个部门？→ 账单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6858000" y="3611880"/>
            <a:ext cx="47823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6995160" y="3703320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· 打分题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有序等级，可以是小数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例：客户有多不满？→ 1.7 / 0–2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6858000" y="4617720"/>
            <a:ext cx="478231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card-text"/>
          <p:cNvSpPr txBox="1"/>
          <p:nvPr/>
        </p:nvSpPr>
        <p:spPr>
          <a:xfrm>
            <a:off x="6995160" y="4709160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 · 坐标题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返回图中目标的位置（四条边的比例）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官方标注 Dreamer-ready，先当原型玩</a:t>
            </a:r>
            <a:endParaRPr lang="en-US" sz="1000" dirty="0"/>
          </a:p>
        </p:txBody>
      </p:sp>
      <p:sp>
        <p:nvSpPr>
          <p:cNvPr id="15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6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同一份材料可以</a:t>
            </a:r>
            <a:r>
              <a:rPr lang="en-US" sz="1500" b="1" dirty="0">
                <a:solidFill>
                  <a:schemeClr val="tx1"/>
                </a:solidFill>
              </a:rPr>
              <a:t>一次问多道题，只读一遍</a:t>
            </a:r>
            <a:r>
              <a:rPr lang="en-US" sz="1500" dirty="0">
                <a:solidFill>
                  <a:schemeClr val="tx1"/>
                </a:solidFill>
              </a:rPr>
              <a:t>。决定效果的是题出得清不清楚，而不是换哪个模型。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 1：四种题型（是非 / 单选 / 打分 / 框选）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1 · 网页版演讲站里现场操作</a:t>
            </a:r>
            <a:endParaRPr lang="en-US" sz="1100" dirty="0"/>
          </a:p>
        </p:txBody>
      </p:sp>
      <p:sp>
        <p:nvSpPr>
          <p:cNvPr id="5" name="demo-steps"/>
          <p:cNvSpPr txBox="1"/>
          <p:nvPr/>
        </p:nvSpPr>
        <p:spPr>
          <a:xfrm>
            <a:off x="548640" y="16459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是非题</a:t>
            </a:r>
            <a:r>
              <a:rPr lang="en-US" sz="1500" dirty="0">
                <a:solidFill>
                  <a:schemeClr val="tx1"/>
                </a:solidFill>
              </a:rPr>
              <a:t>：例 1（接口报 500）→ 97% 是；例 2（扣了两次款）→ 约 25%，对照人工参考答案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单选题</a:t>
            </a:r>
            <a:r>
              <a:rPr lang="en-US" sz="1500" dirty="0">
                <a:solidFill>
                  <a:schemeClr val="tx1"/>
                </a:solidFill>
              </a:rPr>
              <a:t>：例 3（店铺几点关门）→ other 约 85%：有 other 出口就不用硬选；例 4（涨价了？）概率分散，该转人工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打分题</a:t>
            </a:r>
            <a:r>
              <a:rPr lang="en-US" sz="1500" dirty="0">
                <a:solidFill>
                  <a:schemeClr val="tx1"/>
                </a:solidFill>
              </a:rPr>
              <a:t>：冷静 0.2 / 不满但礼貌 1.0 / 很生气 2.0，分数可以是小数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框选题 Box</a:t>
            </a:r>
            <a:r>
              <a:rPr lang="en-US" sz="1500" dirty="0">
                <a:solidFill>
                  <a:schemeClr val="tx1"/>
                </a:solidFill>
              </a:rPr>
              <a:t>：JEV 秒表 → 框画在图上，把握度约 80%；"图里没有的东西"照样给框，要靠旁边的是非题（3%）判断</a:t>
            </a:r>
            <a:endParaRPr lang="en-US" sz="1500" dirty="0"/>
          </a:p>
        </p:txBody>
      </p:sp>
      <p:sp>
        <p:nvSpPr>
          <p:cNvPr id="6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7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本页为 PPT 版：步骤 + 真实实测结果；现场请切换到网页版演讲站（第 9 页）。Box 官方标注 Dreamer-ready，需图片和 Danger-Zone-Images 头，别用在生产里。</a:t>
            </a:r>
            <a:endParaRPr lang="en-US" sz="1400" dirty="0"/>
          </a:p>
        </p:txBody>
      </p:sp>
      <p:pic>
        <p:nvPicPr>
          <p:cNvPr id="8" name="box/stopwatch.jpg" descr="box/stopwa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00200"/>
            <a:ext cx="5605272" cy="2704544"/>
          </a:xfrm>
          <a:prstGeom prst="rect">
            <a:avLst/>
          </a:prstGeom>
        </p:spPr>
      </p:pic>
      <p:sp>
        <p:nvSpPr>
          <p:cNvPr id="9" name="box/stopwatch.jpg-frame"/>
          <p:cNvSpPr/>
          <p:nvPr/>
        </p:nvSpPr>
        <p:spPr>
          <a:xfrm>
            <a:off x="6035040" y="1600200"/>
            <a:ext cx="5605272" cy="2704544"/>
          </a:xfrm>
          <a:prstGeom prst="roundRect">
            <a:avLst>
              <a:gd name="adj" fmla="val 2029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0" name="box-overlay"/>
          <p:cNvSpPr/>
          <p:nvPr/>
        </p:nvSpPr>
        <p:spPr>
          <a:xfrm>
            <a:off x="7212147" y="2032927"/>
            <a:ext cx="1345265" cy="1433408"/>
          </a:xfrm>
          <a:prstGeom prst="rect">
            <a:avLst/>
          </a:prstGeom>
          <a:solidFill>
            <a:schemeClr val="accent5">
              <a:alpha val="15000"/>
            </a:schemeClr>
          </a:solidFill>
          <a:ln w="28575">
            <a:solidFill>
              <a:schemeClr val="accent5"/>
            </a:solidFill>
            <a:prstDash val="solid"/>
          </a:ln>
        </p:spPr>
      </p:sp>
      <p:sp>
        <p:nvSpPr>
          <p:cNvPr id="11" name="cap"/>
          <p:cNvSpPr txBox="1"/>
          <p:nvPr/>
        </p:nvSpPr>
        <p:spPr>
          <a:xfrm>
            <a:off x="6035040" y="4370832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真实返回的框：JEV 秒表 · 把握度 80%</a:t>
            </a:r>
            <a:endParaRPr lang="en-US" sz="1100" dirty="0"/>
          </a:p>
        </p:txBody>
      </p:sp>
      <p:sp>
        <p:nvSpPr>
          <p:cNvPr id="12" name="real-row"/>
          <p:cNvSpPr txBox="1"/>
          <p:nvPr/>
        </p:nvSpPr>
        <p:spPr>
          <a:xfrm>
            <a:off x="6035040" y="4663440"/>
            <a:ext cx="5605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是非 Noul  </a:t>
            </a:r>
            <a:r>
              <a:rPr lang="en-US" sz="1100" dirty="0">
                <a:solidFill>
                  <a:schemeClr val="tx1"/>
                </a:solidFill>
              </a:rPr>
              <a:t>接口报 500 → is_urgent 97% 是</a:t>
            </a:r>
            <a:endParaRPr lang="en-US" sz="1100" dirty="0"/>
          </a:p>
        </p:txBody>
      </p:sp>
      <p:sp>
        <p:nvSpPr>
          <p:cNvPr id="13" name="real-row"/>
          <p:cNvSpPr txBox="1"/>
          <p:nvPr/>
        </p:nvSpPr>
        <p:spPr>
          <a:xfrm>
            <a:off x="6035040" y="4910328"/>
            <a:ext cx="5605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单选 Choice  </a:t>
            </a:r>
            <a:r>
              <a:rPr lang="en-US" sz="1100" dirty="0">
                <a:solidFill>
                  <a:schemeClr val="tx1"/>
                </a:solidFill>
              </a:rPr>
              <a:t>店铺几点关门 → other 84%</a:t>
            </a:r>
            <a:endParaRPr lang="en-US" sz="1100" dirty="0"/>
          </a:p>
        </p:txBody>
      </p:sp>
      <p:sp>
        <p:nvSpPr>
          <p:cNvPr id="14" name="real-row"/>
          <p:cNvSpPr txBox="1"/>
          <p:nvPr/>
        </p:nvSpPr>
        <p:spPr>
          <a:xfrm>
            <a:off x="6035040" y="5157216"/>
            <a:ext cx="5605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打分 Score  </a:t>
            </a:r>
            <a:r>
              <a:rPr lang="en-US" sz="1100" dirty="0">
                <a:solidFill>
                  <a:schemeClr val="tx1"/>
                </a:solidFill>
              </a:rPr>
              <a:t>很生气 → 1.98 ≈ 非常愤怒（把握度 97%）</a:t>
            </a:r>
            <a:endParaRPr lang="en-US" sz="1100" dirty="0"/>
          </a:p>
        </p:txBody>
      </p:sp>
      <p:sp>
        <p:nvSpPr>
          <p:cNvPr id="15" name="real-row"/>
          <p:cNvSpPr txBox="1"/>
          <p:nvPr/>
        </p:nvSpPr>
        <p:spPr>
          <a:xfrm>
            <a:off x="6035040" y="5404104"/>
            <a:ext cx="5605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框选 Box  </a:t>
            </a:r>
            <a:r>
              <a:rPr lang="en-US" sz="1100" dirty="0">
                <a:solidFill>
                  <a:schemeClr val="tx1"/>
                </a:solidFill>
              </a:rPr>
              <a:t>left 0.21 · top 0.16 · right 0.45 · bottom 0.69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一次调用长什么样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认识 Jev · 一次调用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548640" y="1554480"/>
            <a:ext cx="7223760" cy="3337560"/>
          </a:xfrm>
          <a:prstGeom prst="roundRect">
            <a:avLst>
              <a:gd name="adj" fmla="val 2192"/>
            </a:avLst>
          </a:prstGeom>
          <a:solidFill>
            <a:srgbClr val="05091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731520" y="1645920"/>
            <a:ext cx="6858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fetch(".../v1/systemone",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"POST",   // Key 只放后端！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"jev-latest",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"我的月订阅被扣了两次款。",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questions: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is_urgent:   { type: "noul", instructions: "要马上处理吗？"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department:  { type: "choice", instructions: "归哪个团队？",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criteria: { billing: "付款扣费", technical: "故障报错",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other: "以上都不是" }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frustration: { type: "score", instructions: "有多不满？",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criteria: ["冷静", "不满但礼貌", "非常愤怒"]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50" dirty="0"/>
          </a:p>
        </p:txBody>
      </p:sp>
      <p:sp>
        <p:nvSpPr>
          <p:cNvPr id="7" name="legend"/>
          <p:cNvSpPr txBox="1"/>
          <p:nvPr/>
        </p:nvSpPr>
        <p:spPr>
          <a:xfrm>
            <a:off x="548640" y="49834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model＝用哪个版本　state＝要判断的材料　questions＝题目　criteria＝选项说明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返回：answers.is_urgent.noul / answers.department.choice / 各项概率 / 把握度</a:t>
            </a:r>
            <a:endParaRPr lang="en-US" sz="1200" dirty="0"/>
          </a:p>
        </p:txBody>
      </p:sp>
      <p:pic>
        <p:nvPicPr>
          <p:cNvPr id="8" name="firstcode.jpg" descr="firstco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76" y="1554480"/>
            <a:ext cx="3017520" cy="4023360"/>
          </a:xfrm>
          <a:prstGeom prst="rect">
            <a:avLst/>
          </a:prstGeom>
        </p:spPr>
      </p:pic>
      <p:sp>
        <p:nvSpPr>
          <p:cNvPr id="9" name="firstcode.jpg-frame"/>
          <p:cNvSpPr/>
          <p:nvPr/>
        </p:nvSpPr>
        <p:spPr>
          <a:xfrm>
            <a:off x="8380476" y="1554480"/>
            <a:ext cx="3017520" cy="4023360"/>
          </a:xfrm>
          <a:prstGeom prst="roundRect">
            <a:avLst>
              <a:gd name="adj" fmla="val 1818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0" name="takeaway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1" name="takeaway-text"/>
          <p:cNvSpPr txBox="1"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代码读键，别去解析散文；</a:t>
            </a:r>
            <a:r>
              <a:rPr lang="en-US" sz="1600" b="1" dirty="0">
                <a:solidFill>
                  <a:schemeClr val="tx1"/>
                </a:solidFill>
              </a:rPr>
              <a:t>判定之后做什么，由你的 if 决定</a:t>
            </a:r>
            <a:r>
              <a:rPr lang="en-US" sz="1600" dirty="0">
                <a:solidFill>
                  <a:schemeClr val="tx1"/>
                </a:solidFill>
              </a:rPr>
              <a:t>，Jev 不会替你执行业务。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为什么快：不写字，一次算完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为什么值得用 · 快</a:t>
            </a:r>
            <a:endParaRPr lang="en-US" sz="1100" dirty="0"/>
          </a:p>
        </p:txBody>
      </p:sp>
      <p:pic>
        <p:nvPicPr>
          <p:cNvPr id="5" name="fast.jpg" descr="fa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394960" cy="3014831"/>
          </a:xfrm>
          <a:prstGeom prst="rect">
            <a:avLst/>
          </a:prstGeom>
        </p:spPr>
      </p:pic>
      <p:sp>
        <p:nvSpPr>
          <p:cNvPr id="6" name="fast.jpg-frame"/>
          <p:cNvSpPr/>
          <p:nvPr/>
        </p:nvSpPr>
        <p:spPr>
          <a:xfrm>
            <a:off x="548640" y="1554480"/>
            <a:ext cx="5394960" cy="3014831"/>
          </a:xfrm>
          <a:prstGeom prst="roundRect">
            <a:avLst>
              <a:gd name="adj" fmla="val 1820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7" name="bullets"/>
          <p:cNvSpPr txBox="1"/>
          <p:nvPr/>
        </p:nvSpPr>
        <p:spPr>
          <a:xfrm>
            <a:off x="548640" y="47091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输出锁在选项里</a:t>
            </a: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，一次算出所有选项的概率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多道题</a:t>
            </a: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，共享同一次"读材料"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官方说是"并行采样 + 新架构"，具体没公开，别当成已证实</a:t>
            </a:r>
            <a:endParaRPr lang="en-US" sz="1400" dirty="0"/>
          </a:p>
        </p:txBody>
      </p:sp>
      <p:sp>
        <p:nvSpPr>
          <p:cNvPr id="8" name="kpi"/>
          <p:cNvSpPr/>
          <p:nvPr/>
        </p:nvSpPr>
        <p:spPr>
          <a:xfrm>
            <a:off x="6217920" y="1554480"/>
            <a:ext cx="171907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9" name="kpi-text"/>
          <p:cNvSpPr txBox="1"/>
          <p:nvPr/>
        </p:nvSpPr>
        <p:spPr>
          <a:xfrm>
            <a:off x="6355080" y="1627632"/>
            <a:ext cx="14447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70–500ms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官方单次延迟</a:t>
            </a:r>
            <a:endParaRPr lang="en-US" sz="1800" dirty="0"/>
          </a:p>
        </p:txBody>
      </p:sp>
      <p:sp>
        <p:nvSpPr>
          <p:cNvPr id="10" name="kpi"/>
          <p:cNvSpPr/>
          <p:nvPr/>
        </p:nvSpPr>
        <p:spPr>
          <a:xfrm>
            <a:off x="8069580" y="1554480"/>
            <a:ext cx="171907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1" name="kpi-text"/>
          <p:cNvSpPr txBox="1"/>
          <p:nvPr/>
        </p:nvSpPr>
        <p:spPr>
          <a:xfrm>
            <a:off x="8206740" y="1627632"/>
            <a:ext cx="14447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~76ms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网友自报中位数</a:t>
            </a:r>
            <a:endParaRPr lang="en-US" sz="1800" dirty="0"/>
          </a:p>
        </p:txBody>
      </p:sp>
      <p:sp>
        <p:nvSpPr>
          <p:cNvPr id="12" name="kpi"/>
          <p:cNvSpPr/>
          <p:nvPr/>
        </p:nvSpPr>
        <p:spPr>
          <a:xfrm>
            <a:off x="9921240" y="1554480"/>
            <a:ext cx="171907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3" name="kpi-text"/>
          <p:cNvSpPr txBox="1"/>
          <p:nvPr/>
        </p:nvSpPr>
        <p:spPr>
          <a:xfrm>
            <a:off x="10058400" y="1627632"/>
            <a:ext cx="14447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~250ms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本机实测（含跨境网络）</a:t>
            </a:r>
            <a:endParaRPr lang="en-US" sz="1800" dirty="0"/>
          </a:p>
        </p:txBody>
      </p:sp>
      <p:pic>
        <p:nvPicPr>
          <p:cNvPr id="14" name="stopwatch.jpeg" descr="stopwatch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556" y="2697480"/>
            <a:ext cx="5405120" cy="2606040"/>
          </a:xfrm>
          <a:prstGeom prst="rect">
            <a:avLst/>
          </a:prstGeom>
        </p:spPr>
      </p:pic>
      <p:sp>
        <p:nvSpPr>
          <p:cNvPr id="15" name="stopwatch.jpeg-frame"/>
          <p:cNvSpPr/>
          <p:nvPr/>
        </p:nvSpPr>
        <p:spPr>
          <a:xfrm>
            <a:off x="6226556" y="2697480"/>
            <a:ext cx="5405120" cy="2606040"/>
          </a:xfrm>
          <a:prstGeom prst="roundRect">
            <a:avLst>
              <a:gd name="adj" fmla="val 2105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6" name="cap"/>
          <p:cNvSpPr txBox="1"/>
          <p:nvPr/>
        </p:nvSpPr>
        <p:spPr>
          <a:xfrm>
            <a:off x="6217920" y="5349240"/>
            <a:ext cx="5422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上海串行实测：Jev 典型 0.7s / 最慢 1.5s；对照轻量大模型最慢 32s。赢在"稳"：不会偶尔卡几十秒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为什么省：四个地方的账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为什么值得用 · 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539496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6459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输出几乎免费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大模型输出价常是输入的 </a:t>
            </a: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 倍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；Jev </a:t>
            </a: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输出不计费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，输入 $0.042 / 百万 token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2578608"/>
            <a:ext cx="539496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85800" y="267004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没有废话 token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内容审核任务里，输出 </a:t>
            </a: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 token vs 910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（NearHere 实测，对比某轻量大模型）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48640" y="3602736"/>
            <a:ext cx="539496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685800" y="369417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多题合并成一次读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官方称：同一材料一次问 13 题，比分 13 次问 </a:t>
            </a: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 12.2 倍、快 10 倍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（厂商数据）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548640" y="4626864"/>
            <a:ext cx="5394960" cy="932688"/>
          </a:xfrm>
          <a:prstGeom prst="roundRect">
            <a:avLst>
              <a:gd name="adj" fmla="val 980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685800" y="471830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少一类失败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不用解析 JSON、不用因格式错重试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6172200" y="1554480"/>
            <a:ext cx="5468112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4" name="card-text"/>
          <p:cNvSpPr txBox="1"/>
          <p:nvPr/>
        </p:nvSpPr>
        <p:spPr>
          <a:xfrm>
            <a:off x="6309360" y="1645920"/>
            <a:ext cx="51937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同一类任务，每个案例的成本（官方自报，对数刻度）</a:t>
            </a:r>
            <a:endParaRPr lang="en-US" sz="1000" dirty="0"/>
          </a:p>
        </p:txBody>
      </p:sp>
      <p:sp>
        <p:nvSpPr>
          <p:cNvPr id="15" name="lb-label"/>
          <p:cNvSpPr txBox="1"/>
          <p:nvPr/>
        </p:nvSpPr>
        <p:spPr>
          <a:xfrm>
            <a:off x="6355080" y="20116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Jev</a:t>
            </a:r>
            <a:endParaRPr lang="en-US" sz="1300" dirty="0"/>
          </a:p>
        </p:txBody>
      </p:sp>
      <p:sp>
        <p:nvSpPr>
          <p:cNvPr id="16" name="lb-track"/>
          <p:cNvSpPr/>
          <p:nvPr/>
        </p:nvSpPr>
        <p:spPr>
          <a:xfrm>
            <a:off x="8001000" y="2121408"/>
            <a:ext cx="2606040" cy="219456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17" name="lb-fill"/>
          <p:cNvSpPr/>
          <p:nvPr/>
        </p:nvSpPr>
        <p:spPr>
          <a:xfrm>
            <a:off x="8001000" y="2121408"/>
            <a:ext cx="392248" cy="2194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lb-value"/>
          <p:cNvSpPr txBox="1"/>
          <p:nvPr/>
        </p:nvSpPr>
        <p:spPr>
          <a:xfrm>
            <a:off x="10652760" y="20116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$0.0004</a:t>
            </a:r>
            <a:endParaRPr lang="en-US" sz="1300" dirty="0"/>
          </a:p>
        </p:txBody>
      </p:sp>
      <p:sp>
        <p:nvSpPr>
          <p:cNvPr id="19" name="lb-label"/>
          <p:cNvSpPr txBox="1"/>
          <p:nvPr/>
        </p:nvSpPr>
        <p:spPr>
          <a:xfrm>
            <a:off x="6355080" y="25786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GPT-5.6 Terra</a:t>
            </a:r>
            <a:endParaRPr lang="en-US" sz="1300" dirty="0"/>
          </a:p>
        </p:txBody>
      </p:sp>
      <p:sp>
        <p:nvSpPr>
          <p:cNvPr id="20" name="lb-track"/>
          <p:cNvSpPr/>
          <p:nvPr/>
        </p:nvSpPr>
        <p:spPr>
          <a:xfrm>
            <a:off x="8001000" y="2688336"/>
            <a:ext cx="2606040" cy="219456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21" name="lb-fill"/>
          <p:cNvSpPr/>
          <p:nvPr/>
        </p:nvSpPr>
        <p:spPr>
          <a:xfrm>
            <a:off x="8001000" y="2688336"/>
            <a:ext cx="1613869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2" name="lb-value"/>
          <p:cNvSpPr txBox="1"/>
          <p:nvPr/>
        </p:nvSpPr>
        <p:spPr>
          <a:xfrm>
            <a:off x="10652760" y="25786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$0.03</a:t>
            </a:r>
            <a:endParaRPr lang="en-US" sz="1300" dirty="0"/>
          </a:p>
        </p:txBody>
      </p:sp>
      <p:sp>
        <p:nvSpPr>
          <p:cNvPr id="23" name="lb-label"/>
          <p:cNvSpPr txBox="1"/>
          <p:nvPr/>
        </p:nvSpPr>
        <p:spPr>
          <a:xfrm>
            <a:off x="6355080" y="314553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Claude Sonnet 5</a:t>
            </a:r>
            <a:endParaRPr lang="en-US" sz="1300" dirty="0"/>
          </a:p>
        </p:txBody>
      </p:sp>
      <p:sp>
        <p:nvSpPr>
          <p:cNvPr id="24" name="lb-track"/>
          <p:cNvSpPr/>
          <p:nvPr/>
        </p:nvSpPr>
        <p:spPr>
          <a:xfrm>
            <a:off x="8001000" y="3255264"/>
            <a:ext cx="2606040" cy="219456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25" name="lb-fill"/>
          <p:cNvSpPr/>
          <p:nvPr/>
        </p:nvSpPr>
        <p:spPr>
          <a:xfrm>
            <a:off x="8001000" y="3255264"/>
            <a:ext cx="1999919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lb-value"/>
          <p:cNvSpPr txBox="1"/>
          <p:nvPr/>
        </p:nvSpPr>
        <p:spPr>
          <a:xfrm>
            <a:off x="10652760" y="31455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$0.1174</a:t>
            </a:r>
            <a:endParaRPr lang="en-US" sz="1300" dirty="0"/>
          </a:p>
        </p:txBody>
      </p:sp>
      <p:sp>
        <p:nvSpPr>
          <p:cNvPr id="27" name="lb-label"/>
          <p:cNvSpPr txBox="1"/>
          <p:nvPr/>
        </p:nvSpPr>
        <p:spPr>
          <a:xfrm>
            <a:off x="6355080" y="371246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Opus 5</a:t>
            </a:r>
            <a:endParaRPr lang="en-US" sz="1300" dirty="0"/>
          </a:p>
        </p:txBody>
      </p:sp>
      <p:sp>
        <p:nvSpPr>
          <p:cNvPr id="28" name="lb-track"/>
          <p:cNvSpPr/>
          <p:nvPr/>
        </p:nvSpPr>
        <p:spPr>
          <a:xfrm>
            <a:off x="8001000" y="3822192"/>
            <a:ext cx="2606040" cy="219456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29" name="lb-fill"/>
          <p:cNvSpPr/>
          <p:nvPr/>
        </p:nvSpPr>
        <p:spPr>
          <a:xfrm>
            <a:off x="8001000" y="3822192"/>
            <a:ext cx="2120843" cy="21945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0" name="lb-value"/>
          <p:cNvSpPr txBox="1"/>
          <p:nvPr/>
        </p:nvSpPr>
        <p:spPr>
          <a:xfrm>
            <a:off x="10652760" y="371246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$0.18</a:t>
            </a:r>
            <a:endParaRPr lang="en-US" sz="1300" dirty="0"/>
          </a:p>
        </p:txBody>
      </p:sp>
      <p:sp>
        <p:nvSpPr>
          <p:cNvPr id="31" name="cost-note"/>
          <p:cNvSpPr txBox="1"/>
          <p:nvPr/>
        </p:nvSpPr>
        <p:spPr>
          <a:xfrm>
            <a:off x="6309360" y="4434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Sonnet、Opus、Terra 都是大模型型号。官方自建 4 条工作流平均：Jev 准确率 68%，和 Terra、Sonnet 相当；最准的 Opus 5 约 73%。标准答案取两个顶级大模型的平均，所以衡量的是"与大模型一致的程度"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省的边界：别被"400 倍"带跑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为什么值得用 · 省的边界</a:t>
            </a:r>
            <a:endParaRPr lang="en-US" sz="1100" dirty="0"/>
          </a:p>
        </p:txBody>
      </p:sp>
      <p:pic>
        <p:nvPicPr>
          <p:cNvPr id="5" name="billboard.jpeg" descr="billboa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029200" cy="2155371"/>
          </a:xfrm>
          <a:prstGeom prst="rect">
            <a:avLst/>
          </a:prstGeom>
        </p:spPr>
      </p:pic>
      <p:sp>
        <p:nvSpPr>
          <p:cNvPr id="6" name="billboard.jpeg-frame"/>
          <p:cNvSpPr/>
          <p:nvPr/>
        </p:nvSpPr>
        <p:spPr>
          <a:xfrm>
            <a:off x="548640" y="1554480"/>
            <a:ext cx="5029200" cy="2155371"/>
          </a:xfrm>
          <a:prstGeom prst="roundRect">
            <a:avLst>
              <a:gd name="adj" fmla="val 2545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7" name="card"/>
          <p:cNvSpPr/>
          <p:nvPr/>
        </p:nvSpPr>
        <p:spPr>
          <a:xfrm>
            <a:off x="548640" y="3886200"/>
            <a:ext cx="502920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85800" y="39776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快：官网 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193×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社区中位数 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省：官网 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444×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社区中位数 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30×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852160" y="1554480"/>
            <a:ext cx="578815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5989320" y="1645920"/>
            <a:ext cx="55138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对上轻量大模型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94.7% vs 93.0%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条中文 × 3 题：准确率、花费都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基本打平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（各 $0.003）。Jev 赢在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 + 带把握度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5852160" y="3794760"/>
            <a:ext cx="5788152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5989320" y="3886200"/>
            <a:ext cx="5513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什么时候"省"不成立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订阅制（Claude Code / Codex 按月付费）：判断本来就包在月费里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材料很长：输入仍按 token 计费</a:t>
            </a:r>
            <a:endParaRPr lang="en-US" sz="1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价格官方承认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可能有补贴</a:t>
            </a:r>
            <a:endParaRPr lang="en-US" sz="1000" dirty="0"/>
          </a:p>
        </p:txBody>
      </p:sp>
      <p:sp>
        <p:nvSpPr>
          <p:cNvPr id="13" name="takeaway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4" name="takeaway-text"/>
          <p:cNvSpPr txBox="1"/>
          <p:nvPr/>
        </p:nvSpPr>
        <p:spPr>
          <a:xfrm>
            <a:off x="731520" y="56235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"便宜 400 倍"比的是</a:t>
            </a:r>
            <a:r>
              <a:rPr lang="en-US" sz="1600" b="1" dirty="0">
                <a:solidFill>
                  <a:schemeClr val="tx1"/>
                </a:solidFill>
              </a:rPr>
              <a:t>前沿大模型</a:t>
            </a:r>
            <a:r>
              <a:rPr lang="en-US" sz="1600" dirty="0">
                <a:solidFill>
                  <a:schemeClr val="tx1"/>
                </a:solidFill>
              </a:rPr>
              <a:t>；别拿"便宜"当选它的理由，要拿</a:t>
            </a:r>
            <a:r>
              <a:rPr lang="en-US" sz="1600" b="1" dirty="0">
                <a:solidFill>
                  <a:schemeClr val="tx1"/>
                </a:solidFill>
              </a:rPr>
              <a:t>稳定低延迟 + 带把握度的答案</a:t>
            </a:r>
            <a:r>
              <a:rPr lang="en-US" sz="1600" dirty="0">
                <a:solidFill>
                  <a:schemeClr val="tx1"/>
                </a:solidFill>
              </a:rPr>
              <a:t>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为什么敢信：校准（Calibration）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为什么值得用 · 准（校准）</a:t>
            </a:r>
            <a:endParaRPr lang="en-US" sz="1100" dirty="0"/>
          </a:p>
        </p:txBody>
      </p:sp>
      <p:sp>
        <p:nvSpPr>
          <p:cNvPr id="5" name="h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说 90%，就该对 90%</a:t>
            </a:r>
            <a:endParaRPr lang="en-US" sz="2000" dirty="0"/>
          </a:p>
        </p:txBody>
      </p:sp>
      <p:sp>
        <p:nvSpPr>
          <p:cNvPr id="6" name="p"/>
          <p:cNvSpPr txBox="1"/>
          <p:nvPr/>
        </p:nvSpPr>
        <p:spPr>
          <a:xfrm>
            <a:off x="548640" y="2011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像天气预报：预报降雨 70% 的那些天，真有七成下了雨，这个预报就叫"校准好"。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548640" y="283464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以前的小分类模型常"蜜汁自信"：猜错了也标 99%，没法当闸门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Jev 的训练方式专门奖励"把握说得准"，而不只是"答对"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（垃圾邮件 18,514 封）：得分 ≥0.9 的 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99.9%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是垃圾；得分 0.5–0.6 的只有 38%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309360" y="1554480"/>
            <a:ext cx="5330952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6446520" y="1645920"/>
            <a:ext cx="50566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CALIBRATION · 示意曲线</a:t>
            </a:r>
            <a:endParaRPr lang="en-US" sz="1000" dirty="0"/>
          </a:p>
        </p:txBody>
      </p:sp>
      <p:graphicFrame>
        <p:nvGraphicFramePr>
          <p:cNvPr id="10" name="calib-chart" descr=""/>
          <p:cNvGraphicFramePr/>
          <p:nvPr/>
        </p:nvGraphicFramePr>
        <p:xfrm>
          <a:off x="6400800" y="18745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p"/>
          <p:cNvSpPr txBox="1"/>
          <p:nvPr/>
        </p:nvSpPr>
        <p:spPr>
          <a:xfrm>
            <a:off x="644652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说 99% 却只对 70% 的模型，没法当"自动执行"的闸门</a:t>
            </a:r>
            <a:endParaRPr lang="en-US" sz="1200" dirty="0"/>
          </a:p>
        </p:txBody>
      </p:sp>
      <p:sp>
        <p:nvSpPr>
          <p:cNvPr id="12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3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把握度（confidence）≠ 正确率</a:t>
            </a:r>
            <a:r>
              <a:rPr lang="en-US" sz="1500" dirty="0">
                <a:solidFill>
                  <a:schemeClr val="tx1"/>
                </a:solidFill>
              </a:rPr>
              <a:t>。它只是"答案有多集中"；也有人转述过不太理想的校准误差（未核对原评测）——必须拿</a:t>
            </a:r>
            <a:r>
              <a:rPr lang="en-US" sz="1500" b="1" dirty="0">
                <a:solidFill>
                  <a:schemeClr val="tx1"/>
                </a:solidFill>
              </a:rPr>
              <a:t>你自己的数据</a:t>
            </a:r>
            <a:r>
              <a:rPr lang="en-US" sz="1500" dirty="0">
                <a:solidFill>
                  <a:schemeClr val="tx1"/>
                </a:solidFill>
              </a:rPr>
              <a:t>验。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最值钱的用法：按把握分流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为什么值得用 · 按把握分流</a:t>
            </a:r>
            <a:endParaRPr lang="en-US" sz="1100" dirty="0"/>
          </a:p>
        </p:txBody>
      </p:sp>
      <p:sp>
        <p:nvSpPr>
          <p:cNvPr id="5" name="node"/>
          <p:cNvSpPr/>
          <p:nvPr/>
        </p:nvSpPr>
        <p:spPr>
          <a:xfrm>
            <a:off x="548640" y="219456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6" name="node-text"/>
          <p:cNvSpPr txBox="1"/>
          <p:nvPr/>
        </p:nvSpPr>
        <p:spPr>
          <a:xfrm>
            <a:off x="640080" y="21945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一条请求</a:t>
            </a:r>
            <a:endParaRPr lang="en-US" sz="1400" dirty="0"/>
          </a:p>
        </p:txBody>
      </p:sp>
      <p:sp>
        <p:nvSpPr>
          <p:cNvPr id="7" name="arrow"/>
          <p:cNvSpPr txBox="1"/>
          <p:nvPr/>
        </p:nvSpPr>
        <p:spPr>
          <a:xfrm>
            <a:off x="19202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node"/>
          <p:cNvSpPr/>
          <p:nvPr/>
        </p:nvSpPr>
        <p:spPr>
          <a:xfrm>
            <a:off x="2286000" y="21945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ode-text"/>
          <p:cNvSpPr txBox="1"/>
          <p:nvPr/>
        </p:nvSpPr>
        <p:spPr>
          <a:xfrm>
            <a:off x="237744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Jev 判断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 把握度</a:t>
            </a:r>
            <a:endParaRPr lang="en-US" sz="1400" dirty="0"/>
          </a:p>
        </p:txBody>
      </p:sp>
      <p:sp>
        <p:nvSpPr>
          <p:cNvPr id="10" name="arrow"/>
          <p:cNvSpPr txBox="1"/>
          <p:nvPr/>
        </p:nvSpPr>
        <p:spPr>
          <a:xfrm>
            <a:off x="40233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node"/>
          <p:cNvSpPr/>
          <p:nvPr/>
        </p:nvSpPr>
        <p:spPr>
          <a:xfrm>
            <a:off x="4389120" y="164592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de-text"/>
          <p:cNvSpPr txBox="1"/>
          <p:nvPr/>
        </p:nvSpPr>
        <p:spPr>
          <a:xfrm>
            <a:off x="4480560" y="1645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&gt; 0.9　自动执行</a:t>
            </a:r>
            <a:endParaRPr lang="en-US" sz="1400" dirty="0"/>
          </a:p>
        </p:txBody>
      </p:sp>
      <p:sp>
        <p:nvSpPr>
          <p:cNvPr id="13" name="node"/>
          <p:cNvSpPr/>
          <p:nvPr/>
        </p:nvSpPr>
        <p:spPr>
          <a:xfrm>
            <a:off x="4389120" y="233172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node-text"/>
          <p:cNvSpPr txBox="1"/>
          <p:nvPr/>
        </p:nvSpPr>
        <p:spPr>
          <a:xfrm>
            <a:off x="448056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0.7–0.9　大模型复核</a:t>
            </a:r>
            <a:endParaRPr lang="en-US" sz="1400" dirty="0"/>
          </a:p>
        </p:txBody>
      </p:sp>
      <p:sp>
        <p:nvSpPr>
          <p:cNvPr id="15" name="node"/>
          <p:cNvSpPr/>
          <p:nvPr/>
        </p:nvSpPr>
        <p:spPr>
          <a:xfrm>
            <a:off x="4389120" y="301752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node-text"/>
          <p:cNvSpPr txBox="1"/>
          <p:nvPr/>
        </p:nvSpPr>
        <p:spPr>
          <a:xfrm>
            <a:off x="4480560" y="3017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&lt; 0.7　转人工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3840480"/>
            <a:ext cx="6035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ard-text"/>
          <p:cNvSpPr txBox="1"/>
          <p:nvPr/>
        </p:nvSpPr>
        <p:spPr>
          <a:xfrm>
            <a:off x="685800" y="39319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垃圾邮件测试（Arize，AI 评测公司）：把得分 0.3–0.7 的 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4.6%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转人工，其余自动处理准确率 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99.5%</a:t>
            </a:r>
            <a:endParaRPr lang="en-US" sz="1500" dirty="0"/>
          </a:p>
        </p:txBody>
      </p:sp>
      <p:pic>
        <p:nvPicPr>
          <p:cNvPr id="19" name="podcast.jpg" descr="podca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554480"/>
            <a:ext cx="4782312" cy="3235093"/>
          </a:xfrm>
          <a:prstGeom prst="rect">
            <a:avLst/>
          </a:prstGeom>
        </p:spPr>
      </p:pic>
      <p:sp>
        <p:nvSpPr>
          <p:cNvPr id="20" name="podcast.jpg-frame"/>
          <p:cNvSpPr/>
          <p:nvPr/>
        </p:nvSpPr>
        <p:spPr>
          <a:xfrm>
            <a:off x="6858000" y="1554480"/>
            <a:ext cx="4782312" cy="3235093"/>
          </a:xfrm>
          <a:prstGeom prst="roundRect">
            <a:avLst>
              <a:gd name="adj" fmla="val 1696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21" name="cap"/>
          <p:cNvSpPr txBox="1"/>
          <p:nvPr/>
        </p:nvSpPr>
        <p:spPr>
          <a:xfrm>
            <a:off x="6858000" y="484632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播客洞察排名器（作者自报）：85 段全由 Jev 打分 $0.0038，仅 36 段低把握的交大模型复核 $0.0087</a:t>
            </a:r>
            <a:endParaRPr lang="en-US" sz="1200" dirty="0"/>
          </a:p>
        </p:txBody>
      </p:sp>
      <p:sp>
        <p:nvSpPr>
          <p:cNvPr id="22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23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阈值只是起点，要用自己的数据校准；</a:t>
            </a:r>
            <a:r>
              <a:rPr lang="en-US" sz="1600" b="1" dirty="0">
                <a:solidFill>
                  <a:schemeClr val="tx1"/>
                </a:solidFill>
              </a:rPr>
              <a:t>退款、删除、对外发送</a:t>
            </a:r>
            <a:r>
              <a:rPr lang="en-US" sz="1600" dirty="0">
                <a:solidFill>
                  <a:schemeClr val="tx1"/>
                </a:solidFill>
              </a:rPr>
              <a:t>这类不可逆动作，把握再高也留硬规则。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 2：Playground（工单分流 / 退款诉求 / VIP 路由）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2 · 网页版演讲站里现场操作</a:t>
            </a:r>
            <a:endParaRPr lang="en-US" sz="1100" dirty="0"/>
          </a:p>
        </p:txBody>
      </p:sp>
      <p:sp>
        <p:nvSpPr>
          <p:cNvPr id="5" name="demo-steps"/>
          <p:cNvSpPr txBox="1"/>
          <p:nvPr/>
        </p:nvSpPr>
        <p:spPr>
          <a:xfrm>
            <a:off x="548640" y="16459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先看界面：左上材料、下面示例（带</a:t>
            </a:r>
            <a:r>
              <a:rPr lang="en-US" sz="1500" b="1" dirty="0">
                <a:solidFill>
                  <a:schemeClr val="tx1"/>
                </a:solidFill>
              </a:rPr>
              <a:t>绿色参考答案框</a:t>
            </a:r>
            <a:r>
              <a:rPr lang="en-US" sz="1500" dirty="0">
                <a:solidFill>
                  <a:schemeClr val="tx1"/>
                </a:solidFill>
              </a:rPr>
              <a:t>）、左下题目 JSON、右边返回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工单分流</a:t>
            </a:r>
            <a:r>
              <a:rPr lang="en-US" sz="1500" dirty="0">
                <a:solidFill>
                  <a:schemeClr val="tx1"/>
                </a:solidFill>
              </a:rPr>
              <a:t>：例 1 → 账单 100%，与参考答案一致；例 4 → 概率分散，把握度三成左右，转人工；例 5 → 这组题故意没放 other，材料太短也硬选（95%）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拖动"自动放行线"和"复核线"：阈值是</a:t>
            </a:r>
            <a:r>
              <a:rPr lang="en-US" sz="1500" b="1" dirty="0">
                <a:solidFill>
                  <a:schemeClr val="tx1"/>
                </a:solidFill>
              </a:rPr>
              <a:t>你定的</a:t>
            </a:r>
            <a:r>
              <a:rPr lang="en-US" sz="1500" dirty="0">
                <a:solidFill>
                  <a:schemeClr val="tx1"/>
                </a:solidFill>
              </a:rPr>
              <a:t>，不是模型给的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退款诉求</a:t>
            </a:r>
            <a:r>
              <a:rPr lang="en-US" sz="1500" dirty="0">
                <a:solidFill>
                  <a:schemeClr val="tx1"/>
                </a:solidFill>
              </a:rPr>
              <a:t>：和控制台截图完全一样的两道题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VIP 路由</a:t>
            </a:r>
            <a:r>
              <a:rPr lang="en-US" sz="1500" dirty="0">
                <a:solidFill>
                  <a:schemeClr val="tx1"/>
                </a:solidFill>
              </a:rPr>
              <a:t>：材料里放客户信息，</a:t>
            </a:r>
            <a:r>
              <a:rPr lang="en-US" sz="1500" b="1" dirty="0">
                <a:solidFill>
                  <a:schemeClr val="tx1"/>
                </a:solidFill>
              </a:rPr>
              <a:t>同一句话</a:t>
            </a:r>
            <a:r>
              <a:rPr lang="en-US" sz="1500" dirty="0">
                <a:solidFill>
                  <a:schemeClr val="tx1"/>
                </a:solidFill>
              </a:rPr>
              <a:t> VIP → 专属客服，普通 → 自动退款</a:t>
            </a:r>
            <a:endParaRPr lang="en-US" sz="1500" dirty="0"/>
          </a:p>
        </p:txBody>
      </p:sp>
      <p:sp>
        <p:nvSpPr>
          <p:cNvPr id="6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7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本页为 PPT 版：真实实测结果；现场请切换到网页版演讲站（第 16 页）调用 Jev。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035040" y="1645920"/>
            <a:ext cx="5605272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6172200" y="1737360"/>
            <a:ext cx="53309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真实调用结果 · VIP 路由（本机实测）</a:t>
            </a:r>
            <a:endParaRPr lang="en-US" sz="1000" dirty="0"/>
          </a:p>
        </p:txBody>
      </p:sp>
      <p:sp>
        <p:nvSpPr>
          <p:cNvPr id="10" name="demo-state"/>
          <p:cNvSpPr txBox="1"/>
          <p:nvPr/>
        </p:nvSpPr>
        <p:spPr>
          <a:xfrm>
            <a:off x="6263640" y="19659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{"message": "这是我这个月第二次收到坏的耳机了，我要退款……",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"customer": {"level": "VIP", "orders_last_year": 18, "total_spent_cny": 12600}}</a:t>
            </a:r>
            <a:endParaRPr lang="en-US" sz="1050" dirty="0"/>
          </a:p>
        </p:txBody>
      </p:sp>
      <p:sp>
        <p:nvSpPr>
          <p:cNvPr id="11" name="demo-exp"/>
          <p:cNvSpPr txBox="1"/>
          <p:nvPr/>
        </p:nvSpPr>
        <p:spPr>
          <a:xfrm>
            <a:off x="6263640" y="26974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参考答案（人工标注）  </a:t>
            </a: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wants_refund = 是 · route = vip_agent</a:t>
            </a:r>
            <a:endParaRPr lang="en-US" sz="1200" dirty="0"/>
          </a:p>
        </p:txBody>
      </p:sp>
      <p:sp>
        <p:nvSpPr>
          <p:cNvPr id="12" name="row"/>
          <p:cNvSpPr/>
          <p:nvPr/>
        </p:nvSpPr>
        <p:spPr>
          <a:xfrm>
            <a:off x="6263640" y="3063240"/>
            <a:ext cx="5166360" cy="585216"/>
          </a:xfrm>
          <a:prstGeom prst="roundRect">
            <a:avLst>
              <a:gd name="adj" fmla="val 9375"/>
            </a:avLst>
          </a:prstGeom>
          <a:solidFill>
            <a:srgbClr val="0A1426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3" name="rk"/>
          <p:cNvSpPr txBox="1"/>
          <p:nvPr/>
        </p:nvSpPr>
        <p:spPr>
          <a:xfrm>
            <a:off x="640080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wants_refund</a:t>
            </a:r>
            <a:r>
              <a:rPr lang="en-US" sz="1000" dirty="0">
                <a:solidFill>
                  <a:schemeClr val="accent2"/>
                </a:solidFill>
              </a:rPr>
              <a:t>  是非</a:t>
            </a:r>
            <a:endParaRPr lang="en-US" sz="1250" dirty="0"/>
          </a:p>
        </p:txBody>
      </p:sp>
      <p:sp>
        <p:nvSpPr>
          <p:cNvPr id="14" name="rh"/>
          <p:cNvSpPr txBox="1"/>
          <p:nvPr/>
        </p:nvSpPr>
        <p:spPr>
          <a:xfrm>
            <a:off x="877824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98%  是</a:t>
            </a:r>
            <a:endParaRPr lang="en-US" sz="1250" dirty="0"/>
          </a:p>
        </p:txBody>
      </p:sp>
      <p:sp>
        <p:nvSpPr>
          <p:cNvPr id="15" name="rm"/>
          <p:cNvSpPr txBox="1"/>
          <p:nvPr/>
        </p:nvSpPr>
        <p:spPr>
          <a:xfrm>
            <a:off x="6400800" y="33649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参考答案：是 ✓ 一致</a:t>
            </a:r>
            <a:endParaRPr lang="en-US" sz="1100" dirty="0"/>
          </a:p>
        </p:txBody>
      </p:sp>
      <p:sp>
        <p:nvSpPr>
          <p:cNvPr id="16" name="row"/>
          <p:cNvSpPr/>
          <p:nvPr/>
        </p:nvSpPr>
        <p:spPr>
          <a:xfrm>
            <a:off x="6263640" y="3721608"/>
            <a:ext cx="5166360" cy="585216"/>
          </a:xfrm>
          <a:prstGeom prst="roundRect">
            <a:avLst>
              <a:gd name="adj" fmla="val 9375"/>
            </a:avLst>
          </a:prstGeom>
          <a:solidFill>
            <a:srgbClr val="0A1426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7" name="rk"/>
          <p:cNvSpPr txBox="1"/>
          <p:nvPr/>
        </p:nvSpPr>
        <p:spPr>
          <a:xfrm>
            <a:off x="64008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churn_risk</a:t>
            </a:r>
            <a:r>
              <a:rPr lang="en-US" sz="1000" dirty="0">
                <a:solidFill>
                  <a:schemeClr val="accent2"/>
                </a:solidFill>
              </a:rPr>
              <a:t>  打分</a:t>
            </a:r>
            <a:endParaRPr lang="en-US" sz="1250" dirty="0"/>
          </a:p>
        </p:txBody>
      </p:sp>
      <p:sp>
        <p:nvSpPr>
          <p:cNvPr id="18" name="rh"/>
          <p:cNvSpPr txBox="1"/>
          <p:nvPr/>
        </p:nvSpPr>
        <p:spPr>
          <a:xfrm>
            <a:off x="87782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1.90 ≈ 高</a:t>
            </a:r>
            <a:endParaRPr lang="en-US" sz="1250" dirty="0"/>
          </a:p>
        </p:txBody>
      </p:sp>
      <p:sp>
        <p:nvSpPr>
          <p:cNvPr id="19" name="rm"/>
          <p:cNvSpPr txBox="1"/>
          <p:nvPr/>
        </p:nvSpPr>
        <p:spPr>
          <a:xfrm>
            <a:off x="6400800" y="4023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流失风险 86%</a:t>
            </a:r>
            <a:endParaRPr lang="en-US" sz="1100" dirty="0"/>
          </a:p>
        </p:txBody>
      </p:sp>
      <p:sp>
        <p:nvSpPr>
          <p:cNvPr id="20" name="row"/>
          <p:cNvSpPr/>
          <p:nvPr/>
        </p:nvSpPr>
        <p:spPr>
          <a:xfrm>
            <a:off x="6263640" y="4379976"/>
            <a:ext cx="5166360" cy="585216"/>
          </a:xfrm>
          <a:prstGeom prst="roundRect">
            <a:avLst>
              <a:gd name="adj" fmla="val 9375"/>
            </a:avLst>
          </a:prstGeom>
          <a:solidFill>
            <a:srgbClr val="0A1426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21" name="rk"/>
          <p:cNvSpPr txBox="1"/>
          <p:nvPr/>
        </p:nvSpPr>
        <p:spPr>
          <a:xfrm>
            <a:off x="6400800" y="4407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r>
              <a:rPr lang="en-US" sz="1000" dirty="0">
                <a:solidFill>
                  <a:schemeClr val="accent2"/>
                </a:solidFill>
              </a:rPr>
              <a:t>  单选</a:t>
            </a:r>
            <a:endParaRPr lang="en-US" sz="1250" dirty="0"/>
          </a:p>
        </p:txBody>
      </p:sp>
      <p:sp>
        <p:nvSpPr>
          <p:cNvPr id="22" name="rh"/>
          <p:cNvSpPr txBox="1"/>
          <p:nvPr/>
        </p:nvSpPr>
        <p:spPr>
          <a:xfrm>
            <a:off x="8778240" y="4407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vip_agent 98%</a:t>
            </a:r>
            <a:endParaRPr lang="en-US" sz="1250" dirty="0"/>
          </a:p>
        </p:txBody>
      </p:sp>
      <p:sp>
        <p:nvSpPr>
          <p:cNvPr id="23" name="rm"/>
          <p:cNvSpPr txBox="1"/>
          <p:nvPr/>
        </p:nvSpPr>
        <p:spPr>
          <a:xfrm>
            <a:off x="6400800" y="46817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Confidence 98% · 参考答案 vip_agent ✓</a:t>
            </a:r>
            <a:endParaRPr lang="en-US" sz="1100" dirty="0"/>
          </a:p>
        </p:txBody>
      </p:sp>
      <p:sp>
        <p:nvSpPr>
          <p:cNvPr id="24" name="cmp"/>
          <p:cNvSpPr/>
          <p:nvPr/>
        </p:nvSpPr>
        <p:spPr>
          <a:xfrm>
            <a:off x="6263640" y="5047488"/>
            <a:ext cx="5166360" cy="384048"/>
          </a:xfrm>
          <a:prstGeom prst="roundRect">
            <a:avLst>
              <a:gd name="adj" fmla="val 14286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cmp-text"/>
          <p:cNvSpPr txBox="1"/>
          <p:nvPr/>
        </p:nvSpPr>
        <p:spPr>
          <a:xfrm>
            <a:off x="6355080" y="504748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同一句话（耳机坏了请退款）：VIP → vip_agent 98% ｜ 普通 → auto_refund 88%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案例地图：四种用法，七个案例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总览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69164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决策器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每一步选哪个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 · 浏览器 Agent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6199632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336792" y="169164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实时闸门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 / 隐藏 / 人工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 · 内容审核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 · 垃圾邮件与工单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48640" y="3611880"/>
            <a:ext cx="544068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685800" y="370332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批量处理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以前不值得上 AI 的判断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4 · 海量分类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5 · 招聘初筛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6 · 文档处理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6199632" y="3611880"/>
            <a:ext cx="544068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6336792" y="3703320"/>
            <a:ext cx="5166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开发者工具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先检索，再判断；给 Agent 装闸门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7 · 检索与护栏</a:t>
            </a:r>
            <a:endParaRPr lang="en-US" sz="1000" dirty="0"/>
          </a:p>
        </p:txBody>
      </p:sp>
      <p:sp>
        <p:nvSpPr>
          <p:cNvPr id="13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4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共同点：</a:t>
            </a:r>
            <a:r>
              <a:rPr lang="en-US" sz="1600" b="1" dirty="0">
                <a:solidFill>
                  <a:schemeClr val="tx1"/>
                </a:solidFill>
              </a:rPr>
              <a:t>选项事先存在</a:t>
            </a:r>
            <a:r>
              <a:rPr lang="en-US" sz="1600" dirty="0">
                <a:solidFill>
                  <a:schemeClr val="tx1"/>
                </a:solidFill>
              </a:rPr>
              <a:t>，不需要它写一篇话。现场演示穿插在案例 2、案例 4 之后。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1｜浏览器 Agent：网页拆成"选择题"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Agent 决策</a:t>
            </a:r>
            <a:endParaRPr lang="en-US" sz="11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164592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Browser Use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（开源的"能操作浏览器的 AI"）做了 jev-ultrafast：不再每步截图给看图的大模型，而是把网页拆成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带编号的元素清单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 Jev 选"做什么、对哪个"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单次决策约 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$0.0039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（不到 4 厘钱）；全流程只快了约 25%，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更大的收获是"做得准"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关键发现：同样用 Jev，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直接喂网页原始代码只做对一半，整理成清单全做对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状态怎么"喂"，比换哪个模型更重要</a:t>
            </a:r>
            <a:endParaRPr lang="en-US" sz="1600" dirty="0"/>
          </a:p>
        </p:txBody>
      </p:sp>
      <p:pic>
        <p:nvPicPr>
          <p:cNvPr id="6" name="agent-click.jpeg" descr="agent-clic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553" y="1554480"/>
            <a:ext cx="4858247" cy="2148840"/>
          </a:xfrm>
          <a:prstGeom prst="rect">
            <a:avLst/>
          </a:prstGeom>
        </p:spPr>
      </p:pic>
      <p:sp>
        <p:nvSpPr>
          <p:cNvPr id="7" name="agent-click.jpeg-frame"/>
          <p:cNvSpPr/>
          <p:nvPr/>
        </p:nvSpPr>
        <p:spPr>
          <a:xfrm>
            <a:off x="6408553" y="1554480"/>
            <a:ext cx="4858247" cy="2148840"/>
          </a:xfrm>
          <a:prstGeom prst="roundRect">
            <a:avLst>
              <a:gd name="adj" fmla="val 2553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8" name="cap"/>
          <p:cNvSpPr txBox="1"/>
          <p:nvPr/>
        </p:nvSpPr>
        <p:spPr>
          <a:xfrm>
            <a:off x="6035040" y="373075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网页被拆成 12 个编号元素，Jev 回答"点 7"</a:t>
            </a:r>
            <a:endParaRPr lang="en-US" sz="1200" dirty="0"/>
          </a:p>
        </p:txBody>
      </p:sp>
      <p:sp>
        <p:nvSpPr>
          <p:cNvPr id="9" name="ba-card"/>
          <p:cNvSpPr/>
          <p:nvPr/>
        </p:nvSpPr>
        <p:spPr>
          <a:xfrm>
            <a:off x="6035040" y="4114800"/>
            <a:ext cx="56052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0" name="ba-title"/>
          <p:cNvSpPr txBox="1"/>
          <p:nvPr/>
        </p:nvSpPr>
        <p:spPr>
          <a:xfrm>
            <a:off x="6172200" y="4178808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搜一张机票，全流程耗时</a:t>
            </a:r>
            <a:endParaRPr lang="en-US" sz="1100" dirty="0"/>
          </a:p>
        </p:txBody>
      </p:sp>
      <p:sp>
        <p:nvSpPr>
          <p:cNvPr id="11" name="ba-label"/>
          <p:cNvSpPr txBox="1"/>
          <p:nvPr/>
        </p:nvSpPr>
        <p:spPr>
          <a:xfrm>
            <a:off x="6172200" y="4498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传统：截图+看图大模型</a:t>
            </a:r>
            <a:endParaRPr lang="en-US" sz="1200" dirty="0"/>
          </a:p>
        </p:txBody>
      </p:sp>
      <p:sp>
        <p:nvSpPr>
          <p:cNvPr id="12" name="ba-track"/>
          <p:cNvSpPr/>
          <p:nvPr/>
        </p:nvSpPr>
        <p:spPr>
          <a:xfrm>
            <a:off x="7955280" y="4562856"/>
            <a:ext cx="2816352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13" name="ba-fill"/>
          <p:cNvSpPr/>
          <p:nvPr/>
        </p:nvSpPr>
        <p:spPr>
          <a:xfrm>
            <a:off x="7955280" y="4562856"/>
            <a:ext cx="2816352" cy="1463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4" name="ba-value"/>
          <p:cNvSpPr txBox="1"/>
          <p:nvPr/>
        </p:nvSpPr>
        <p:spPr>
          <a:xfrm>
            <a:off x="10844784" y="4498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 s</a:t>
            </a:r>
            <a:endParaRPr lang="en-US" sz="1200" dirty="0"/>
          </a:p>
        </p:txBody>
      </p:sp>
      <p:sp>
        <p:nvSpPr>
          <p:cNvPr id="15" name="ba-label"/>
          <p:cNvSpPr txBox="1"/>
          <p:nvPr/>
        </p:nvSpPr>
        <p:spPr>
          <a:xfrm>
            <a:off x="6172200" y="4828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Jev 选元素</a:t>
            </a:r>
            <a:endParaRPr lang="en-US" sz="1200" dirty="0"/>
          </a:p>
        </p:txBody>
      </p:sp>
      <p:sp>
        <p:nvSpPr>
          <p:cNvPr id="16" name="ba-track"/>
          <p:cNvSpPr/>
          <p:nvPr/>
        </p:nvSpPr>
        <p:spPr>
          <a:xfrm>
            <a:off x="7955280" y="4892040"/>
            <a:ext cx="2816352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17" name="ba-fill"/>
          <p:cNvSpPr/>
          <p:nvPr/>
        </p:nvSpPr>
        <p:spPr>
          <a:xfrm>
            <a:off x="7955280" y="4892040"/>
            <a:ext cx="2104853" cy="1463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ba-value"/>
          <p:cNvSpPr txBox="1"/>
          <p:nvPr/>
        </p:nvSpPr>
        <p:spPr>
          <a:xfrm>
            <a:off x="10844784" y="4828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s</a:t>
            </a:r>
            <a:endParaRPr lang="en-US" sz="1200" dirty="0"/>
          </a:p>
        </p:txBody>
      </p:sp>
      <p:sp>
        <p:nvSpPr>
          <p:cNvPr id="19" name="ba-card"/>
          <p:cNvSpPr/>
          <p:nvPr/>
        </p:nvSpPr>
        <p:spPr>
          <a:xfrm>
            <a:off x="6035040" y="5303520"/>
            <a:ext cx="56052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20" name="ba-title"/>
          <p:cNvSpPr txBox="1"/>
          <p:nvPr/>
        </p:nvSpPr>
        <p:spPr>
          <a:xfrm>
            <a:off x="6172200" y="5367528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浏览器任务通过数（共 49 个测试任务）</a:t>
            </a:r>
            <a:endParaRPr lang="en-US" sz="1100" dirty="0"/>
          </a:p>
        </p:txBody>
      </p:sp>
      <p:sp>
        <p:nvSpPr>
          <p:cNvPr id="21" name="ba-label"/>
          <p:cNvSpPr txBox="1"/>
          <p:nvPr/>
        </p:nvSpPr>
        <p:spPr>
          <a:xfrm>
            <a:off x="6172200" y="5687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喂网页原始代码</a:t>
            </a:r>
            <a:endParaRPr lang="en-US" sz="1200" dirty="0"/>
          </a:p>
        </p:txBody>
      </p:sp>
      <p:sp>
        <p:nvSpPr>
          <p:cNvPr id="22" name="ba-track"/>
          <p:cNvSpPr/>
          <p:nvPr/>
        </p:nvSpPr>
        <p:spPr>
          <a:xfrm>
            <a:off x="7955280" y="5751576"/>
            <a:ext cx="2816352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23" name="ba-fill"/>
          <p:cNvSpPr/>
          <p:nvPr/>
        </p:nvSpPr>
        <p:spPr>
          <a:xfrm>
            <a:off x="7955280" y="5751576"/>
            <a:ext cx="1436914" cy="14630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4" name="ba-value"/>
          <p:cNvSpPr txBox="1"/>
          <p:nvPr/>
        </p:nvSpPr>
        <p:spPr>
          <a:xfrm>
            <a:off x="10844784" y="56875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49</a:t>
            </a:r>
            <a:endParaRPr lang="en-US" sz="1200" dirty="0"/>
          </a:p>
        </p:txBody>
      </p:sp>
      <p:sp>
        <p:nvSpPr>
          <p:cNvPr id="25" name="ba-label"/>
          <p:cNvSpPr txBox="1"/>
          <p:nvPr/>
        </p:nvSpPr>
        <p:spPr>
          <a:xfrm>
            <a:off x="6172200" y="6016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整理成编号清单</a:t>
            </a:r>
            <a:endParaRPr lang="en-US" sz="1200" dirty="0"/>
          </a:p>
        </p:txBody>
      </p:sp>
      <p:sp>
        <p:nvSpPr>
          <p:cNvPr id="26" name="ba-track"/>
          <p:cNvSpPr/>
          <p:nvPr/>
        </p:nvSpPr>
        <p:spPr>
          <a:xfrm>
            <a:off x="7955280" y="6080760"/>
            <a:ext cx="2816352" cy="146304"/>
          </a:xfrm>
          <a:prstGeom prst="roundRect">
            <a:avLst>
              <a:gd name="adj" fmla="val 50000"/>
            </a:avLst>
          </a:prstGeom>
          <a:solidFill>
            <a:srgbClr val="0A1426"/>
          </a:solidFill>
          <a:ln/>
        </p:spPr>
      </p:sp>
      <p:sp>
        <p:nvSpPr>
          <p:cNvPr id="27" name="ba-fill"/>
          <p:cNvSpPr/>
          <p:nvPr/>
        </p:nvSpPr>
        <p:spPr>
          <a:xfrm>
            <a:off x="7955280" y="6080760"/>
            <a:ext cx="2816352" cy="1463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8" name="ba-value"/>
          <p:cNvSpPr txBox="1"/>
          <p:nvPr/>
        </p:nvSpPr>
        <p:spPr>
          <a:xfrm>
            <a:off x="10844784" y="6016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/ 49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2｜内容审核：快到可以"输入即判"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内容审核</a:t>
            </a:r>
            <a:endParaRPr lang="en-US" sz="1100" dirty="0"/>
          </a:p>
        </p:txBody>
      </p:sp>
      <p:sp>
        <p:nvSpPr>
          <p:cNvPr id="5" name="kpi"/>
          <p:cNvSpPr/>
          <p:nvPr/>
        </p:nvSpPr>
        <p:spPr>
          <a:xfrm>
            <a:off x="54864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6" name="kpi-text"/>
          <p:cNvSpPr txBox="1"/>
          <p:nvPr/>
        </p:nvSpPr>
        <p:spPr>
          <a:xfrm>
            <a:off x="685800" y="1673352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96%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NearHere 活动平台审核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对比某轻量大模型 86%</a:t>
            </a:r>
            <a:endParaRPr lang="en-US" sz="3400" dirty="0"/>
          </a:p>
        </p:txBody>
      </p:sp>
      <p:sp>
        <p:nvSpPr>
          <p:cNvPr id="7" name="kpi"/>
          <p:cNvSpPr/>
          <p:nvPr/>
        </p:nvSpPr>
        <p:spPr>
          <a:xfrm>
            <a:off x="3383280" y="1600200"/>
            <a:ext cx="24688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8" name="kpi-text"/>
          <p:cNvSpPr txBox="1"/>
          <p:nvPr/>
        </p:nvSpPr>
        <p:spPr>
          <a:xfrm>
            <a:off x="3520440" y="1673352"/>
            <a:ext cx="2194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58×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每次判定更便宜</a:t>
            </a:r>
            <a:endParaRPr lang="en-US" sz="3400" dirty="0"/>
          </a:p>
        </p:txBody>
      </p:sp>
      <p:sp>
        <p:nvSpPr>
          <p:cNvPr id="9" name="h"/>
          <p:cNvSpPr txBox="1"/>
          <p:nvPr/>
        </p:nvSpPr>
        <p:spPr>
          <a:xfrm>
            <a:off x="54864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一次请求，三道题同时答：</a:t>
            </a:r>
            <a:endParaRPr lang="en-US" sz="1600" dirty="0"/>
          </a:p>
        </p:txBody>
      </p:sp>
      <p:sp>
        <p:nvSpPr>
          <p:cNvPr id="10" name="bullets"/>
          <p:cNvSpPr txBox="1"/>
          <p:nvPr/>
        </p:nvSpPr>
        <p:spPr>
          <a:xfrm>
            <a:off x="548640" y="35661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harassment 是非题：是不是辱骂？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 是非题：是不是诈骗？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单选题：放行 / 隐藏 / 交人工（给运营看的建议）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6309360" y="1600200"/>
            <a:ext cx="5330952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6446520" y="1691640"/>
            <a:ext cx="50566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审核流水线 · 单次约 0.1–0.3 秒</a:t>
            </a:r>
            <a:endParaRPr lang="en-US" sz="1000" dirty="0"/>
          </a:p>
        </p:txBody>
      </p:sp>
      <p:sp>
        <p:nvSpPr>
          <p:cNvPr id="13" name="node"/>
          <p:cNvSpPr/>
          <p:nvPr/>
        </p:nvSpPr>
        <p:spPr>
          <a:xfrm>
            <a:off x="6858000" y="2011680"/>
            <a:ext cx="42062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rgbClr val="1B2942"/>
            </a:solidFill>
            <a:prstDash val="solid"/>
          </a:ln>
        </p:spPr>
      </p:sp>
      <p:sp>
        <p:nvSpPr>
          <p:cNvPr id="14" name="node-text"/>
          <p:cNvSpPr txBox="1"/>
          <p:nvPr/>
        </p:nvSpPr>
        <p:spPr>
          <a:xfrm>
            <a:off x="6949440" y="2011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用户输入的内容</a:t>
            </a:r>
            <a:endParaRPr lang="en-US" sz="1400" dirty="0"/>
          </a:p>
        </p:txBody>
      </p:sp>
      <p:sp>
        <p:nvSpPr>
          <p:cNvPr id="15" name="arrow"/>
          <p:cNvSpPr txBox="1"/>
          <p:nvPr/>
        </p:nvSpPr>
        <p:spPr>
          <a:xfrm>
            <a:off x="8595360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node"/>
          <p:cNvSpPr/>
          <p:nvPr/>
        </p:nvSpPr>
        <p:spPr>
          <a:xfrm>
            <a:off x="6858000" y="2926080"/>
            <a:ext cx="42062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node-text"/>
          <p:cNvSpPr txBox="1"/>
          <p:nvPr/>
        </p:nvSpPr>
        <p:spPr>
          <a:xfrm>
            <a:off x="6949440" y="2926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Jev 判断（三道题并行）</a:t>
            </a:r>
            <a:endParaRPr lang="en-US" sz="1400" dirty="0"/>
          </a:p>
        </p:txBody>
      </p:sp>
      <p:sp>
        <p:nvSpPr>
          <p:cNvPr id="18" name="arrow-label"/>
          <p:cNvSpPr txBox="1"/>
          <p:nvPr/>
        </p:nvSpPr>
        <p:spPr>
          <a:xfrm>
            <a:off x="6858000" y="3456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↓  你的代码按阈值决定</a:t>
            </a:r>
            <a:endParaRPr lang="en-US" sz="1200" dirty="0"/>
          </a:p>
        </p:txBody>
      </p:sp>
      <p:sp>
        <p:nvSpPr>
          <p:cNvPr id="19" name="node"/>
          <p:cNvSpPr/>
          <p:nvPr/>
        </p:nvSpPr>
        <p:spPr>
          <a:xfrm>
            <a:off x="6858000" y="384048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node-text"/>
          <p:cNvSpPr txBox="1"/>
          <p:nvPr/>
        </p:nvSpPr>
        <p:spPr>
          <a:xfrm>
            <a:off x="694944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辱骂 ≥ 0.5 → 折叠隐藏</a:t>
            </a:r>
            <a:endParaRPr lang="en-US" sz="1400" dirty="0"/>
          </a:p>
        </p:txBody>
      </p:sp>
      <p:sp>
        <p:nvSpPr>
          <p:cNvPr id="21" name="node"/>
          <p:cNvSpPr/>
          <p:nvPr/>
        </p:nvSpPr>
        <p:spPr>
          <a:xfrm>
            <a:off x="6858000" y="438912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node-text"/>
          <p:cNvSpPr txBox="1"/>
          <p:nvPr/>
        </p:nvSpPr>
        <p:spPr>
          <a:xfrm>
            <a:off x="694944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诈骗 ≥ 0.7 → 先不发布，交人工</a:t>
            </a:r>
            <a:endParaRPr lang="en-US" sz="1400" dirty="0"/>
          </a:p>
        </p:txBody>
      </p:sp>
      <p:sp>
        <p:nvSpPr>
          <p:cNvPr id="23" name="node"/>
          <p:cNvSpPr/>
          <p:nvPr/>
        </p:nvSpPr>
        <p:spPr>
          <a:xfrm>
            <a:off x="6858000" y="493776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node-text"/>
          <p:cNvSpPr txBox="1"/>
          <p:nvPr/>
        </p:nvSpPr>
        <p:spPr>
          <a:xfrm>
            <a:off x="6949440" y="4937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其余 → 直接放行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 3：输入即判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3 · 网页版演讲站里现场操作</a:t>
            </a:r>
            <a:endParaRPr lang="en-US" sz="1100" dirty="0"/>
          </a:p>
        </p:txBody>
      </p:sp>
      <p:sp>
        <p:nvSpPr>
          <p:cNvPr id="5" name="demo-steps"/>
          <p:cNvSpPr txBox="1"/>
          <p:nvPr/>
        </p:nvSpPr>
        <p:spPr>
          <a:xfrm>
            <a:off x="548640" y="16459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左边是题目：辱骂（是非）、诈骗（是非）、建议处理方式（单选）；右边是返回 + 参考答案对照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点"正常" → </a:t>
            </a:r>
            <a:r>
              <a:rPr lang="en-US" sz="1500" b="1" dirty="0">
                <a:solidFill>
                  <a:schemeClr val="tx1"/>
                </a:solidFill>
              </a:rPr>
              <a:t>放行</a:t>
            </a:r>
            <a:r>
              <a:rPr lang="en-US" sz="1500" dirty="0">
                <a:solidFill>
                  <a:schemeClr val="tx1"/>
                </a:solidFill>
              </a:rPr>
              <a:t>；点"辱骂" → </a:t>
            </a:r>
            <a:r>
              <a:rPr lang="en-US" sz="1500" b="1" dirty="0">
                <a:solidFill>
                  <a:schemeClr val="tx1"/>
                </a:solidFill>
              </a:rPr>
              <a:t>隐藏</a:t>
            </a:r>
            <a:r>
              <a:rPr lang="en-US" sz="1500" dirty="0">
                <a:solidFill>
                  <a:schemeClr val="tx1"/>
                </a:solidFill>
              </a:rPr>
              <a:t>；点"诈骗" → </a:t>
            </a:r>
            <a:r>
              <a:rPr lang="en-US" sz="1500" b="1" dirty="0">
                <a:solidFill>
                  <a:schemeClr val="tx1"/>
                </a:solidFill>
              </a:rPr>
              <a:t>交人工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点"反讽"（你这个方案真是太"有想法"了）：辱骂约 25%、处理建议的把握只有六成——这就是"低把握长什么样"</a:t>
            </a:r>
            <a:endParaRPr lang="en-US" sz="1500" dirty="0"/>
          </a:p>
        </p:txBody>
      </p:sp>
      <p:sp>
        <p:nvSpPr>
          <p:cNvPr id="6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7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本页为 PPT 版：步骤 + 真实实测结果；现场请切换到网页版演讲站（第 20 页）。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035040" y="1645920"/>
            <a:ext cx="5605272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6172200" y="1737360"/>
            <a:ext cx="53309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真实调用结果（10 月 28 日本机实测，均与参考答案一致）</a:t>
            </a:r>
            <a:endParaRPr lang="en-US" sz="1000" dirty="0"/>
          </a:p>
        </p:txBody>
      </p:sp>
      <p:sp>
        <p:nvSpPr>
          <p:cNvPr id="10" name="in"/>
          <p:cNvSpPr txBox="1"/>
          <p:nvPr/>
        </p:nvSpPr>
        <p:spPr>
          <a:xfrm>
            <a:off x="626364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今天这个活动办得真不错，下次还来！</a:t>
            </a:r>
            <a:endParaRPr lang="en-US" sz="1300" dirty="0"/>
          </a:p>
        </p:txBody>
      </p:sp>
      <p:sp>
        <p:nvSpPr>
          <p:cNvPr id="11" name="sc"/>
          <p:cNvSpPr txBox="1"/>
          <p:nvPr/>
        </p:nvSpPr>
        <p:spPr>
          <a:xfrm>
            <a:off x="6263640" y="2514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辱骂 1% · 诈骗 1% · action = allow ✓</a:t>
            </a:r>
            <a:endParaRPr lang="en-US" sz="1000" dirty="0"/>
          </a:p>
        </p:txBody>
      </p:sp>
      <p:sp>
        <p:nvSpPr>
          <p:cNvPr id="12" name="verdict"/>
          <p:cNvSpPr/>
          <p:nvPr/>
        </p:nvSpPr>
        <p:spPr>
          <a:xfrm>
            <a:off x="10012680" y="205740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verdict-text"/>
          <p:cNvSpPr txBox="1"/>
          <p:nvPr/>
        </p:nvSpPr>
        <p:spPr>
          <a:xfrm>
            <a:off x="10012680" y="2057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放行</a:t>
            </a:r>
            <a:endParaRPr lang="en-US" sz="1600" dirty="0"/>
          </a:p>
        </p:txBody>
      </p:sp>
      <p:sp>
        <p:nvSpPr>
          <p:cNvPr id="14" name="in"/>
          <p:cNvSpPr txBox="1"/>
          <p:nvPr/>
        </p:nvSpPr>
        <p:spPr>
          <a:xfrm>
            <a:off x="6263640" y="3108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你这个人真是个傻子，别让我再看到你</a:t>
            </a:r>
            <a:endParaRPr lang="en-US" sz="1300" dirty="0"/>
          </a:p>
        </p:txBody>
      </p:sp>
      <p:sp>
        <p:nvSpPr>
          <p:cNvPr id="15" name="sc"/>
          <p:cNvSpPr txBox="1"/>
          <p:nvPr/>
        </p:nvSpPr>
        <p:spPr>
          <a:xfrm>
            <a:off x="6263640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辱骂 94% · 诈骗 1% · action = hide ✓</a:t>
            </a:r>
            <a:endParaRPr lang="en-US" sz="1000" dirty="0"/>
          </a:p>
        </p:txBody>
      </p:sp>
      <p:sp>
        <p:nvSpPr>
          <p:cNvPr id="16" name="verdict"/>
          <p:cNvSpPr/>
          <p:nvPr/>
        </p:nvSpPr>
        <p:spPr>
          <a:xfrm>
            <a:off x="10012680" y="315468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verdict-text"/>
          <p:cNvSpPr txBox="1"/>
          <p:nvPr/>
        </p:nvSpPr>
        <p:spPr>
          <a:xfrm>
            <a:off x="10012680" y="3154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隐藏</a:t>
            </a:r>
            <a:endParaRPr lang="en-US" sz="1600" dirty="0"/>
          </a:p>
        </p:txBody>
      </p:sp>
      <p:sp>
        <p:nvSpPr>
          <p:cNvPr id="18" name="in"/>
          <p:cNvSpPr txBox="1"/>
          <p:nvPr/>
        </p:nvSpPr>
        <p:spPr>
          <a:xfrm>
            <a:off x="626364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恭喜中奖！加微信领取，先转账 100 元手续费</a:t>
            </a:r>
            <a:endParaRPr lang="en-US" sz="1300" dirty="0"/>
          </a:p>
        </p:txBody>
      </p:sp>
      <p:sp>
        <p:nvSpPr>
          <p:cNvPr id="19" name="sc"/>
          <p:cNvSpPr txBox="1"/>
          <p:nvPr/>
        </p:nvSpPr>
        <p:spPr>
          <a:xfrm>
            <a:off x="6263640" y="4709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辱骂 3% · 诈骗 99% · action = escalate ✓</a:t>
            </a:r>
            <a:endParaRPr lang="en-US" sz="1000" dirty="0"/>
          </a:p>
        </p:txBody>
      </p:sp>
      <p:sp>
        <p:nvSpPr>
          <p:cNvPr id="20" name="verdict"/>
          <p:cNvSpPr/>
          <p:nvPr/>
        </p:nvSpPr>
        <p:spPr>
          <a:xfrm>
            <a:off x="10012680" y="425196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verdict-text"/>
          <p:cNvSpPr txBox="1"/>
          <p:nvPr/>
        </p:nvSpPr>
        <p:spPr>
          <a:xfrm>
            <a:off x="10012680" y="4251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交人工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3｜垃圾邮件与工单：不用训练，也能追平训练好的模型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邮件与工单</a:t>
            </a:r>
            <a:endParaRPr lang="en-US" sz="1100" dirty="0"/>
          </a:p>
        </p:txBody>
      </p:sp>
      <p:sp>
        <p:nvSpPr>
          <p:cNvPr id="5" name="kpi"/>
          <p:cNvSpPr/>
          <p:nvPr/>
        </p:nvSpPr>
        <p:spPr>
          <a:xfrm>
            <a:off x="54864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6" name="kpi-text"/>
          <p:cNvSpPr txBox="1"/>
          <p:nvPr/>
        </p:nvSpPr>
        <p:spPr>
          <a:xfrm>
            <a:off x="685800" y="1673352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98.3%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Jev（不给任何训练例子）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18,514 封邮件</a:t>
            </a:r>
            <a:endParaRPr lang="en-US" sz="3400" dirty="0"/>
          </a:p>
        </p:txBody>
      </p:sp>
      <p:sp>
        <p:nvSpPr>
          <p:cNvPr id="7" name="kpi"/>
          <p:cNvSpPr/>
          <p:nvPr/>
        </p:nvSpPr>
        <p:spPr>
          <a:xfrm>
            <a:off x="338328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8" name="kpi-text"/>
          <p:cNvSpPr txBox="1"/>
          <p:nvPr/>
        </p:nvSpPr>
        <p:spPr>
          <a:xfrm>
            <a:off x="3520440" y="1673352"/>
            <a:ext cx="2377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98.4%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传统分类模型</a:t>
            </a:r>
            <a:endParaRPr lang="en-US" sz="3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用了约 1.48 万条标注训练</a:t>
            </a:r>
            <a:endParaRPr lang="en-US" sz="3400" dirty="0"/>
          </a:p>
        </p:txBody>
      </p:sp>
      <p:sp>
        <p:nvSpPr>
          <p:cNvPr id="9" name="card"/>
          <p:cNvSpPr/>
          <p:nvPr/>
        </p:nvSpPr>
        <p:spPr>
          <a:xfrm>
            <a:off x="548640" y="3108960"/>
            <a:ext cx="54864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685800" y="32004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转人工后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把中间 4.6% 交人工，其余 </a:t>
            </a:r>
            <a:r>
              <a:rPr lang="en-US" sz="14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99.5%</a:t>
            </a: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。两者意见不同的 466 封，对错各占一半，差距小到可以认为没区别</a:t>
            </a:r>
            <a:endParaRPr lang="en-US" sz="1000" dirty="0"/>
          </a:p>
        </p:txBody>
      </p:sp>
      <p:sp>
        <p:nvSpPr>
          <p:cNvPr id="11" name="cap"/>
          <p:cNvSpPr txBox="1"/>
          <p:nvPr/>
        </p:nvSpPr>
        <p:spPr>
          <a:xfrm>
            <a:off x="54864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注：评判标准写法是看了 1,000 封错例后调过的，并非完全"零训练"</a:t>
            </a:r>
            <a:endParaRPr lang="en-US" sz="1200" dirty="0"/>
          </a:p>
        </p:txBody>
      </p:sp>
      <p:sp>
        <p:nvSpPr>
          <p:cNvPr id="12" name="h"/>
          <p:cNvSpPr txBox="1"/>
          <p:nvPr/>
        </p:nvSpPr>
        <p:spPr>
          <a:xfrm>
            <a:off x="64008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工单分流示例题</a:t>
            </a:r>
            <a:endParaRPr lang="en-US" sz="1600" dirty="0"/>
          </a:p>
        </p:txBody>
      </p:sp>
      <p:sp>
        <p:nvSpPr>
          <p:cNvPr id="13" name="code-bg"/>
          <p:cNvSpPr/>
          <p:nvPr/>
        </p:nvSpPr>
        <p:spPr>
          <a:xfrm>
            <a:off x="6400800" y="2011680"/>
            <a:ext cx="5239512" cy="1737360"/>
          </a:xfrm>
          <a:prstGeom prst="roundRect">
            <a:avLst>
              <a:gd name="adj" fmla="val 4211"/>
            </a:avLst>
          </a:prstGeom>
          <a:solidFill>
            <a:srgbClr val="05091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4" name="code"/>
          <p:cNvSpPr txBox="1"/>
          <p:nvPr/>
        </p:nvSpPr>
        <p:spPr>
          <a:xfrm>
            <a:off x="6583680" y="2103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         单选 账单|故障|需求|其他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refund_requested   是非 是否要退款，≥0.7 算"是"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bug_severity       打分 故障严重度 3 档，≥1.5 加急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示例阈值，需用自己的数据校准</a:t>
            </a:r>
            <a:endParaRPr lang="en-US" sz="1250" dirty="0"/>
          </a:p>
        </p:txBody>
      </p:sp>
      <p:sp>
        <p:nvSpPr>
          <p:cNvPr id="15" name="takeaway"/>
          <p:cNvSpPr/>
          <p:nvPr/>
        </p:nvSpPr>
        <p:spPr>
          <a:xfrm>
            <a:off x="6400800" y="4023360"/>
            <a:ext cx="523951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6" name="takeaway-text"/>
          <p:cNvSpPr txBox="1"/>
          <p:nvPr/>
        </p:nvSpPr>
        <p:spPr>
          <a:xfrm>
            <a:off x="6583680" y="4023360"/>
            <a:ext cx="4873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每个单选题都留一个</a:t>
            </a:r>
            <a:r>
              <a:rPr lang="en-US" sz="1500" b="1" dirty="0">
                <a:solidFill>
                  <a:schemeClr val="tx1"/>
                </a:solidFill>
              </a:rPr>
              <a:t>"其他"出口</a:t>
            </a:r>
            <a:r>
              <a:rPr lang="en-US" sz="1500" dirty="0">
                <a:solidFill>
                  <a:schemeClr val="tx1"/>
                </a:solidFill>
              </a:rPr>
              <a:t>，不然它会硬选一个最像的。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4｜海量分类：以前不值得上 AI 的小判断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海量分类</a:t>
            </a:r>
            <a:endParaRPr lang="en-US" sz="1100" dirty="0"/>
          </a:p>
        </p:txBody>
      </p:sp>
      <p:sp>
        <p:nvSpPr>
          <p:cNvPr id="5" name="kpi"/>
          <p:cNvSpPr/>
          <p:nvPr/>
        </p:nvSpPr>
        <p:spPr>
          <a:xfrm>
            <a:off x="548640" y="1600200"/>
            <a:ext cx="26974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6" name="kpi-text"/>
          <p:cNvSpPr txBox="1"/>
          <p:nvPr/>
        </p:nvSpPr>
        <p:spPr>
          <a:xfrm>
            <a:off x="685800" y="1673352"/>
            <a:ext cx="24231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$0.08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1,018 篇论文分 24 类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（先让大模型写摘要，要 $3.99）</a:t>
            </a:r>
            <a:endParaRPr lang="en-US" sz="3000" dirty="0"/>
          </a:p>
        </p:txBody>
      </p:sp>
      <p:sp>
        <p:nvSpPr>
          <p:cNvPr id="7" name="kpi"/>
          <p:cNvSpPr/>
          <p:nvPr/>
        </p:nvSpPr>
        <p:spPr>
          <a:xfrm>
            <a:off x="3429000" y="1600200"/>
            <a:ext cx="26974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8" name="kpi-text"/>
          <p:cNvSpPr txBox="1"/>
          <p:nvPr/>
        </p:nvSpPr>
        <p:spPr>
          <a:xfrm>
            <a:off x="3566160" y="1673352"/>
            <a:ext cx="24231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s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724 条广告 / 37 品牌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花费 $0.09</a:t>
            </a:r>
            <a:endParaRPr lang="en-US" sz="3000" dirty="0"/>
          </a:p>
        </p:txBody>
      </p:sp>
      <p:sp>
        <p:nvSpPr>
          <p:cNvPr id="9" name="kpi"/>
          <p:cNvSpPr/>
          <p:nvPr/>
        </p:nvSpPr>
        <p:spPr>
          <a:xfrm>
            <a:off x="548640" y="3383280"/>
            <a:ext cx="26974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0" name="kpi-text"/>
          <p:cNvSpPr txBox="1"/>
          <p:nvPr/>
        </p:nvSpPr>
        <p:spPr>
          <a:xfrm>
            <a:off x="685800" y="3456432"/>
            <a:ext cx="24231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$0.13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3,282 条推文 × 8 题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 分 34 秒</a:t>
            </a:r>
            <a:endParaRPr lang="en-US" sz="3000" dirty="0"/>
          </a:p>
        </p:txBody>
      </p:sp>
      <p:sp>
        <p:nvSpPr>
          <p:cNvPr id="11" name="kpi"/>
          <p:cNvSpPr/>
          <p:nvPr/>
        </p:nvSpPr>
        <p:spPr>
          <a:xfrm>
            <a:off x="3429000" y="3383280"/>
            <a:ext cx="26974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2" name="kpi-text"/>
          <p:cNvSpPr txBox="1"/>
          <p:nvPr/>
        </p:nvSpPr>
        <p:spPr>
          <a:xfrm>
            <a:off x="3566160" y="3456432"/>
            <a:ext cx="24231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s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320 份 Agent 会话日志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（200 万 token）花费 $0.08</a:t>
            </a:r>
            <a:endParaRPr lang="en-US" sz="3000" dirty="0"/>
          </a:p>
        </p:txBody>
      </p:sp>
      <p:pic>
        <p:nvPicPr>
          <p:cNvPr id="13" name="pg-jev.jpg" descr="pg-j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39512" cy="3405683"/>
          </a:xfrm>
          <a:prstGeom prst="rect">
            <a:avLst/>
          </a:prstGeom>
        </p:spPr>
      </p:pic>
      <p:sp>
        <p:nvSpPr>
          <p:cNvPr id="14" name="pg-jev.jpg-frame"/>
          <p:cNvSpPr/>
          <p:nvPr/>
        </p:nvSpPr>
        <p:spPr>
          <a:xfrm>
            <a:off x="6400800" y="1554480"/>
            <a:ext cx="5239512" cy="3405683"/>
          </a:xfrm>
          <a:prstGeom prst="roundRect">
            <a:avLst>
              <a:gd name="adj" fmla="val 1611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5" name="cap"/>
          <p:cNvSpPr txBox="1"/>
          <p:nvPr/>
        </p:nvSpPr>
        <p:spPr>
          <a:xfrm>
            <a:off x="6400800" y="5029200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在数据库查询里直接写自然语言条件：WHERE jev(people,'…')，129 行约 1 秒 / $0.0009（作者自报）</a:t>
            </a:r>
            <a:endParaRPr lang="en-US" sz="1200" dirty="0"/>
          </a:p>
        </p:txBody>
      </p:sp>
      <p:sp>
        <p:nvSpPr>
          <p:cNvPr id="16" name="takeaway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7" name="takeaway-text"/>
          <p:cNvSpPr txBox="1"/>
          <p:nvPr/>
        </p:nvSpPr>
        <p:spPr>
          <a:xfrm>
            <a:off x="731520" y="571500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输入极便宜 + 输出免费 → </a:t>
            </a:r>
            <a:r>
              <a:rPr lang="en-US" sz="1600" b="1" dirty="0">
                <a:solidFill>
                  <a:schemeClr val="tx1"/>
                </a:solidFill>
              </a:rPr>
              <a:t>逐条判断</a:t>
            </a:r>
            <a:r>
              <a:rPr lang="en-US" sz="1600" dirty="0">
                <a:solidFill>
                  <a:schemeClr val="tx1"/>
                </a:solidFill>
              </a:rPr>
              <a:t>可以变成默认选项。下一页现场试 100 条。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 4：100 条并行分类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4 · 网页版演讲站里现场操作</a:t>
            </a:r>
            <a:endParaRPr lang="en-US" sz="1100" dirty="0"/>
          </a:p>
        </p:txBody>
      </p:sp>
      <p:sp>
        <p:nvSpPr>
          <p:cNvPr id="5" name="demo-steps"/>
          <p:cNvSpPr txBox="1"/>
          <p:nvPr/>
        </p:nvSpPr>
        <p:spPr>
          <a:xfrm>
            <a:off x="548640" y="16459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100 条</a:t>
            </a:r>
            <a:r>
              <a:rPr lang="en-US" sz="1500" b="1" dirty="0">
                <a:solidFill>
                  <a:schemeClr val="tx1"/>
                </a:solidFill>
              </a:rPr>
              <a:t>互不重复</a:t>
            </a:r>
            <a:r>
              <a:rPr lang="en-US" sz="1500" dirty="0">
                <a:solidFill>
                  <a:schemeClr val="tx1"/>
                </a:solidFill>
              </a:rPr>
              <a:t>的用户反馈，每条都有预设答案：表扬 / 故障 / 建议 / 投诉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最后 4 条是"功能挺好用的，就是价格涨得有点狠"这类</a:t>
            </a:r>
            <a:r>
              <a:rPr lang="en-US" sz="1500" b="1" dirty="0">
                <a:solidFill>
                  <a:schemeClr val="tx1"/>
                </a:solidFill>
              </a:rPr>
              <a:t>先夸后骂</a:t>
            </a:r>
            <a:r>
              <a:rPr lang="en-US" sz="1500" dirty="0">
                <a:solidFill>
                  <a:schemeClr val="tx1"/>
                </a:solidFill>
              </a:rPr>
              <a:t>的转折句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点"并行判 100 条"（10 个并发），看总耗时、平均单次、花费、</a:t>
            </a:r>
            <a:r>
              <a:rPr lang="en-US" sz="1500" b="1" dirty="0">
                <a:solidFill>
                  <a:schemeClr val="tx1"/>
                </a:solidFill>
              </a:rPr>
              <a:t>与预设答案一致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花费用接口返回的 token 数算：每条约 380 个，</a:t>
            </a:r>
            <a:r>
              <a:rPr lang="en-US" sz="1500" b="1" dirty="0">
                <a:solidFill>
                  <a:schemeClr val="tx1"/>
                </a:solidFill>
              </a:rPr>
              <a:t>大部分是题目本身</a:t>
            </a:r>
            <a:endParaRPr lang="en-US" sz="1500" dirty="0"/>
          </a:p>
        </p:txBody>
      </p:sp>
      <p:sp>
        <p:nvSpPr>
          <p:cNvPr id="6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7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本页为 PPT 版：真实实测结果；现场请切换到网页版演讲站（第 23 页）。句子是自己写的、意思清楚，别讲成"100% 准确"。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035040" y="1645920"/>
            <a:ext cx="5605272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6172200" y="1737360"/>
            <a:ext cx="53309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真实调用结果（本机实测）</a:t>
            </a:r>
            <a:endParaRPr lang="en-US" sz="1000" dirty="0"/>
          </a:p>
        </p:txBody>
      </p:sp>
      <p:sp>
        <p:nvSpPr>
          <p:cNvPr id="10" name="kpi"/>
          <p:cNvSpPr/>
          <p:nvPr/>
        </p:nvSpPr>
        <p:spPr>
          <a:xfrm>
            <a:off x="6263640" y="196596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1" name="kpi-text"/>
          <p:cNvSpPr txBox="1"/>
          <p:nvPr/>
        </p:nvSpPr>
        <p:spPr>
          <a:xfrm>
            <a:off x="6400800" y="203911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s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总耗时</a:t>
            </a:r>
            <a:endParaRPr lang="en-US" sz="2400" dirty="0"/>
          </a:p>
        </p:txBody>
      </p:sp>
      <p:sp>
        <p:nvSpPr>
          <p:cNvPr id="12" name="kpi"/>
          <p:cNvSpPr/>
          <p:nvPr/>
        </p:nvSpPr>
        <p:spPr>
          <a:xfrm>
            <a:off x="8915400" y="196596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3" name="kpi-text"/>
          <p:cNvSpPr txBox="1"/>
          <p:nvPr/>
        </p:nvSpPr>
        <p:spPr>
          <a:xfrm>
            <a:off x="9052560" y="203911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~290 ms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平均单次</a:t>
            </a:r>
            <a:endParaRPr lang="en-US" sz="2400" dirty="0"/>
          </a:p>
        </p:txBody>
      </p:sp>
      <p:sp>
        <p:nvSpPr>
          <p:cNvPr id="14" name="kpi"/>
          <p:cNvSpPr/>
          <p:nvPr/>
        </p:nvSpPr>
        <p:spPr>
          <a:xfrm>
            <a:off x="6263640" y="297180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5" name="kpi-text"/>
          <p:cNvSpPr txBox="1"/>
          <p:nvPr/>
        </p:nvSpPr>
        <p:spPr>
          <a:xfrm>
            <a:off x="6400800" y="304495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$0.0016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估算花费（输入）</a:t>
            </a:r>
            <a:endParaRPr lang="en-US" sz="2400" dirty="0"/>
          </a:p>
        </p:txBody>
      </p:sp>
      <p:sp>
        <p:nvSpPr>
          <p:cNvPr id="16" name="kpi"/>
          <p:cNvSpPr/>
          <p:nvPr/>
        </p:nvSpPr>
        <p:spPr>
          <a:xfrm>
            <a:off x="8915400" y="2971800"/>
            <a:ext cx="2468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7" name="kpi-text"/>
          <p:cNvSpPr txBox="1"/>
          <p:nvPr/>
        </p:nvSpPr>
        <p:spPr>
          <a:xfrm>
            <a:off x="9052560" y="304495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与预设答案一致</a:t>
            </a:r>
            <a:endParaRPr lang="en-US" sz="2400" dirty="0"/>
          </a:p>
        </p:txBody>
      </p:sp>
      <p:graphicFrame>
        <p:nvGraphicFramePr>
          <p:cNvPr id="24" name="batch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023360"/>
          <a:ext cx="516636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914400"/>
                <a:gridCol w="128016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材料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预设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Jev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把握度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功能挺好用的，就是价格涨得有点狠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complaint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complaint ✓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界面很漂亮，但是导出一直报错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bug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bug ✓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客服很耐心，可惜问题还是没解决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complaint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complaint ✓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95%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希望修一下闪退，修好了我就续费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bug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bug ✓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100%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5｜招聘初筛：成本降 88%，10 天上线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招聘初筛（可跳过）</a:t>
            </a:r>
            <a:endParaRPr lang="en-US" sz="1100" dirty="0"/>
          </a:p>
        </p:txBody>
      </p:sp>
      <p:sp>
        <p:nvSpPr>
          <p:cNvPr id="5" name="kpi-big"/>
          <p:cNvSpPr txBox="1"/>
          <p:nvPr/>
        </p:nvSpPr>
        <p:spPr>
          <a:xfrm>
            <a:off x="548640" y="1600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−88%</a:t>
            </a:r>
            <a:r>
              <a:rPr lang="en-US" sz="1800" dirty="0">
                <a:solidFill>
                  <a:schemeClr val="tx2"/>
                </a:solidFill>
              </a:rPr>
              <a:t> 每千人筛选成本</a:t>
            </a:r>
            <a:endParaRPr lang="en-US" sz="6600" dirty="0"/>
          </a:p>
        </p:txBody>
      </p:sp>
      <p:sp>
        <p:nvSpPr>
          <p:cNvPr id="6" name="p"/>
          <p:cNvSpPr txBox="1"/>
          <p:nvPr/>
        </p:nvSpPr>
        <p:spPr>
          <a:xfrm>
            <a:off x="548640" y="28346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Jack &amp; Jill</a:t>
            </a:r>
            <a:r>
              <a:rPr lang="en-US" sz="1500" dirty="0">
                <a:solidFill>
                  <a:schemeClr val="tx1"/>
                </a:solidFill>
              </a:rPr>
              <a:t>（AI 招聘平台）：每个岗位每天 6,000 名候选人，初筛出 2,000 名。从某轻量大模型换成 Jev，10 天从测试到全量。</a:t>
            </a:r>
            <a:endParaRPr lang="en-US" sz="1500" dirty="0"/>
          </a:p>
        </p:txBody>
      </p:sp>
      <p:sp>
        <p:nvSpPr>
          <p:cNvPr id="7" name="takeaway"/>
          <p:cNvSpPr/>
          <p:nvPr/>
        </p:nvSpPr>
        <p:spPr>
          <a:xfrm>
            <a:off x="548640" y="4480560"/>
            <a:ext cx="5303520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8" name="takeaway-text"/>
          <p:cNvSpPr txBox="1"/>
          <p:nvPr/>
        </p:nvSpPr>
        <p:spPr>
          <a:xfrm>
            <a:off x="731520" y="44805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保留率 93.9% → 94.6%，差异</a:t>
            </a:r>
            <a:r>
              <a:rPr lang="en-US" sz="1300" b="1" dirty="0">
                <a:solidFill>
                  <a:schemeClr val="tx1"/>
                </a:solidFill>
              </a:rPr>
              <a:t>未达统计显著</a:t>
            </a:r>
            <a:r>
              <a:rPr lang="en-US" sz="1300" dirty="0">
                <a:solidFill>
                  <a:schemeClr val="tx1"/>
                </a:solidFill>
              </a:rPr>
              <a:t>，按"持平"理解；年省金额为公司预估（官方自报）。</a:t>
            </a:r>
            <a:endParaRPr lang="en-US" sz="13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309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34440"/>
                <a:gridCol w="1261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指标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替换前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替换后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每千人成本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$0.755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$0.092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单人耗时（中位）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20.3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10.3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资料检查耗时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3.6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0.2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赢家保留率（最终胜出的人没被误筛掉）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93.9%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EF9"/>
                          </a:solidFill>
                        </a:rPr>
                        <a:t>94.6%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6｜文档处理：DocJev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文档处理</a:t>
            </a:r>
            <a:endParaRPr lang="en-US" sz="1100" dirty="0"/>
          </a:p>
        </p:txBody>
      </p:sp>
      <p:sp>
        <p:nvSpPr>
          <p:cNvPr id="5" name="bullets"/>
          <p:cNvSpPr txBox="1"/>
          <p:nvPr/>
        </p:nvSpPr>
        <p:spPr>
          <a:xfrm>
            <a:off x="548640" y="164592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Jerry Liu 开源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：用自然语言告诉 Jev 文档有哪几类，Jev 给 PDF / Word / PPT 分类，或判断多份文档拼在一起时的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分界在哪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份文档分类 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40/40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；8 个五份文档合订包，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7/8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拆对（对比的大模型 8/8）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输出类别概率、分界分数、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需要复核的标记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天内 400+ 人收藏（GitHub）</a:t>
            </a:r>
            <a:endParaRPr lang="en-US" sz="1500" dirty="0"/>
          </a:p>
        </p:txBody>
      </p:sp>
      <p:sp>
        <p:nvSpPr>
          <p:cNvPr id="6" name="takeaway"/>
          <p:cNvSpPr/>
          <p:nvPr/>
        </p:nvSpPr>
        <p:spPr>
          <a:xfrm>
            <a:off x="548640" y="5074920"/>
            <a:ext cx="5669280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7" name="takeaway-text"/>
          <p:cNvSpPr txBox="1"/>
          <p:nvPr/>
        </p:nvSpPr>
        <p:spPr>
          <a:xfrm>
            <a:off x="731520" y="50749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作者自己说明：小样本、描述性结果，</a:t>
            </a:r>
            <a:r>
              <a:rPr lang="en-US" sz="1400" b="1" dirty="0">
                <a:solidFill>
                  <a:schemeClr val="tx1"/>
                </a:solidFill>
              </a:rPr>
              <a:t>不代表泛化准确率</a:t>
            </a:r>
            <a:r>
              <a:rPr lang="en-US" sz="1400" dirty="0">
                <a:solidFill>
                  <a:schemeClr val="tx1"/>
                </a:solidFill>
              </a:rPr>
              <a:t>。</a:t>
            </a:r>
            <a:endParaRPr lang="en-US" sz="1400" dirty="0"/>
          </a:p>
        </p:txBody>
      </p:sp>
      <p:sp>
        <p:nvSpPr>
          <p:cNvPr id="8" name="kpi"/>
          <p:cNvSpPr/>
          <p:nvPr/>
        </p:nvSpPr>
        <p:spPr>
          <a:xfrm>
            <a:off x="6583680" y="1645920"/>
            <a:ext cx="23774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9" name="kpi-text"/>
          <p:cNvSpPr txBox="1"/>
          <p:nvPr/>
        </p:nvSpPr>
        <p:spPr>
          <a:xfrm>
            <a:off x="6720840" y="1719072"/>
            <a:ext cx="21031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139 ms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Jev 分类中位</a:t>
            </a:r>
            <a:endParaRPr lang="en-US" sz="2600" dirty="0"/>
          </a:p>
        </p:txBody>
      </p:sp>
      <p:sp>
        <p:nvSpPr>
          <p:cNvPr id="10" name="kpi"/>
          <p:cNvSpPr/>
          <p:nvPr/>
        </p:nvSpPr>
        <p:spPr>
          <a:xfrm>
            <a:off x="9144000" y="1645920"/>
            <a:ext cx="249631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1" name="kpi-text"/>
          <p:cNvSpPr txBox="1"/>
          <p:nvPr/>
        </p:nvSpPr>
        <p:spPr>
          <a:xfrm>
            <a:off x="9281160" y="1719072"/>
            <a:ext cx="2221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794 ms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某大模型</a:t>
            </a:r>
            <a:endParaRPr lang="en-US" sz="2600" dirty="0"/>
          </a:p>
        </p:txBody>
      </p:sp>
      <p:sp>
        <p:nvSpPr>
          <p:cNvPr id="12" name="kpi"/>
          <p:cNvSpPr/>
          <p:nvPr/>
        </p:nvSpPr>
        <p:spPr>
          <a:xfrm>
            <a:off x="6583680" y="3246120"/>
            <a:ext cx="23774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3" name="kpi-text"/>
          <p:cNvSpPr txBox="1"/>
          <p:nvPr/>
        </p:nvSpPr>
        <p:spPr>
          <a:xfrm>
            <a:off x="6720840" y="3319272"/>
            <a:ext cx="21031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 ms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Jev 拆包中位</a:t>
            </a:r>
            <a:endParaRPr lang="en-US" sz="2600" dirty="0"/>
          </a:p>
        </p:txBody>
      </p:sp>
      <p:sp>
        <p:nvSpPr>
          <p:cNvPr id="14" name="kpi"/>
          <p:cNvSpPr/>
          <p:nvPr/>
        </p:nvSpPr>
        <p:spPr>
          <a:xfrm>
            <a:off x="9144000" y="3246120"/>
            <a:ext cx="2496312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5" name="kpi-text"/>
          <p:cNvSpPr txBox="1"/>
          <p:nvPr/>
        </p:nvSpPr>
        <p:spPr>
          <a:xfrm>
            <a:off x="9281160" y="3319272"/>
            <a:ext cx="222199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1,352 ms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某大模型</a:t>
            </a:r>
            <a:endParaRPr lang="en-US" sz="2600" dirty="0"/>
          </a:p>
        </p:txBody>
      </p:sp>
      <p:sp>
        <p:nvSpPr>
          <p:cNvPr id="16" name="cap"/>
          <p:cNvSpPr txBox="1"/>
          <p:nvPr/>
        </p:nvSpPr>
        <p:spPr>
          <a:xfrm>
            <a:off x="6583680" y="484632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延迟不含"把图片转成文字"的时间。项目自带对比页，可和大模型并排看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7｜开发者工具：检索与护栏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开发者工具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593592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737360"/>
            <a:ext cx="33192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siftr · 按意思搜代码</a:t>
            </a:r>
            <a:endParaRPr lang="en-US" sz="1000" dirty="0"/>
          </a:p>
        </p:txBody>
      </p:sp>
      <p:sp>
        <p:nvSpPr>
          <p:cNvPr id="7" name="kpi"/>
          <p:cNvSpPr txBox="1"/>
          <p:nvPr/>
        </p:nvSpPr>
        <p:spPr>
          <a:xfrm>
            <a:off x="73152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3600" dirty="0"/>
          </a:p>
        </p:txBody>
      </p:sp>
      <p:sp>
        <p:nvSpPr>
          <p:cNvPr id="8" name="kpi-text"/>
          <p:cNvSpPr txBox="1"/>
          <p:nvPr/>
        </p:nvSpPr>
        <p:spPr>
          <a:xfrm>
            <a:off x="731520" y="28346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在"找出该改哪个文件"的评测里，</a:t>
            </a:r>
            <a:r>
              <a:rPr lang="en-US" sz="1600" b="1" dirty="0">
                <a:solidFill>
                  <a:schemeClr val="tx1"/>
                </a:solidFill>
              </a:rPr>
              <a:t>正确文件排进前 5</a:t>
            </a:r>
            <a:r>
              <a:rPr lang="en-US" sz="1600" dirty="0">
                <a:solidFill>
                  <a:schemeClr val="tx1"/>
                </a:solidFill>
              </a:rPr>
              <a:t> 的比例；传统关键词搜索只有 52% 和 22%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297680" y="1645920"/>
            <a:ext cx="3593592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4434840" y="1737360"/>
            <a:ext cx="33192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jgrep · 按意思搜索</a:t>
            </a:r>
            <a:endParaRPr lang="en-US" sz="1000" dirty="0"/>
          </a:p>
        </p:txBody>
      </p:sp>
      <p:sp>
        <p:nvSpPr>
          <p:cNvPr id="11" name="kpi"/>
          <p:cNvSpPr txBox="1"/>
          <p:nvPr/>
        </p:nvSpPr>
        <p:spPr>
          <a:xfrm>
            <a:off x="448056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4.6 s</a:t>
            </a:r>
            <a:endParaRPr lang="en-US" sz="3600" dirty="0"/>
          </a:p>
        </p:txBody>
      </p:sp>
      <p:sp>
        <p:nvSpPr>
          <p:cNvPr id="12" name="kpi-text"/>
          <p:cNvSpPr txBox="1"/>
          <p:nvPr/>
        </p:nvSpPr>
        <p:spPr>
          <a:xfrm>
            <a:off x="4480560" y="28346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994 条技术社区的标题，花费 </a:t>
            </a:r>
            <a:r>
              <a:rPr lang="en-US" sz="1600" b="1" dirty="0">
                <a:solidFill>
                  <a:schemeClr val="tx1"/>
                </a:solidFill>
              </a:rPr>
              <a:t>$0.012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046720" y="1645920"/>
            <a:ext cx="3593592" cy="265176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ard-text"/>
          <p:cNvSpPr txBox="1"/>
          <p:nvPr/>
        </p:nvSpPr>
        <p:spPr>
          <a:xfrm>
            <a:off x="8183880" y="1737360"/>
            <a:ext cx="33192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toolgate · 工具调用防火墙</a:t>
            </a:r>
            <a:endParaRPr lang="en-US" sz="1000" dirty="0"/>
          </a:p>
        </p:txBody>
      </p:sp>
      <p:sp>
        <p:nvSpPr>
          <p:cNvPr id="15" name="kpi"/>
          <p:cNvSpPr txBox="1"/>
          <p:nvPr/>
        </p:nvSpPr>
        <p:spPr>
          <a:xfrm>
            <a:off x="8229600" y="2011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 s</a:t>
            </a:r>
            <a:endParaRPr lang="en-US" sz="3600" dirty="0"/>
          </a:p>
        </p:txBody>
      </p:sp>
      <p:sp>
        <p:nvSpPr>
          <p:cNvPr id="16" name="kpi-text"/>
          <p:cNvSpPr txBox="1"/>
          <p:nvPr/>
        </p:nvSpPr>
        <p:spPr>
          <a:xfrm>
            <a:off x="8229600" y="28346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给编码 Agent 的每次工具调用判"安全 / 要确认 / 拦截"，每次不到一分钱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4480560"/>
            <a:ext cx="54406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8" name="card-text"/>
          <p:cNvSpPr txBox="1"/>
          <p:nvPr/>
        </p:nvSpPr>
        <p:spPr>
          <a:xfrm>
            <a:off x="685800" y="45720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主流 Agent 开发框架已集成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能按任务难度在快模型 / 强模型之间选；也能在 AI 动手前拦截高风险动作</a:t>
            </a:r>
            <a:endParaRPr lang="en-US" sz="1000" dirty="0"/>
          </a:p>
        </p:txBody>
      </p:sp>
      <p:sp>
        <p:nvSpPr>
          <p:cNvPr id="19" name="card"/>
          <p:cNvSpPr/>
          <p:nvPr/>
        </p:nvSpPr>
        <p:spPr>
          <a:xfrm>
            <a:off x="6199632" y="4480560"/>
            <a:ext cx="54406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20" name="card-text"/>
          <p:cNvSpPr txBox="1"/>
          <p:nvPr/>
        </p:nvSpPr>
        <p:spPr>
          <a:xfrm>
            <a:off x="6336792" y="45720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模式：先检索，再判断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先用代码把无关内容筛掉，再交给 Jev——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材料越杂越不准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好玩的演示：看个热闹，别当真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真实案例 · 好玩的演示（可跳过）</a:t>
            </a:r>
            <a:endParaRPr lang="en-US" sz="1100" dirty="0"/>
          </a:p>
        </p:txBody>
      </p:sp>
      <p:pic>
        <p:nvPicPr>
          <p:cNvPr id="5" name="tetris.jpg" descr="tetr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413" y="1645920"/>
            <a:ext cx="2896047" cy="2468880"/>
          </a:xfrm>
          <a:prstGeom prst="rect">
            <a:avLst/>
          </a:prstGeom>
        </p:spPr>
      </p:pic>
      <p:sp>
        <p:nvSpPr>
          <p:cNvPr id="6" name="tetris.jpg-frame"/>
          <p:cNvSpPr/>
          <p:nvPr/>
        </p:nvSpPr>
        <p:spPr>
          <a:xfrm>
            <a:off x="897413" y="1645920"/>
            <a:ext cx="2896047" cy="2468880"/>
          </a:xfrm>
          <a:prstGeom prst="roundRect">
            <a:avLst>
              <a:gd name="adj" fmla="val 2222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7" name="cap"/>
          <p:cNvSpPr txBox="1"/>
          <p:nvPr/>
        </p:nvSpPr>
        <p:spPr>
          <a:xfrm>
            <a:off x="548640" y="4251960"/>
            <a:ext cx="3593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俄罗斯方块</a:t>
            </a:r>
            <a:r>
              <a:rPr lang="en-US" sz="1300" dirty="0">
                <a:solidFill>
                  <a:schemeClr val="tx2"/>
                </a:solidFill>
              </a:rPr>
              <a:t>：每落一块就是一道单选（放哪列、转几次）</a:t>
            </a:r>
            <a:endParaRPr lang="en-US" sz="1300" dirty="0"/>
          </a:p>
        </p:txBody>
      </p:sp>
      <p:pic>
        <p:nvPicPr>
          <p:cNvPr id="8" name="city.jpeg" descr="city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645920"/>
            <a:ext cx="3456432" cy="2468880"/>
          </a:xfrm>
          <a:prstGeom prst="rect">
            <a:avLst/>
          </a:prstGeom>
        </p:spPr>
      </p:pic>
      <p:sp>
        <p:nvSpPr>
          <p:cNvPr id="9" name="city.jpeg-frame"/>
          <p:cNvSpPr/>
          <p:nvPr/>
        </p:nvSpPr>
        <p:spPr>
          <a:xfrm>
            <a:off x="4366260" y="1645920"/>
            <a:ext cx="3456432" cy="2468880"/>
          </a:xfrm>
          <a:prstGeom prst="roundRect">
            <a:avLst>
              <a:gd name="adj" fmla="val 2222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0" name="cap"/>
          <p:cNvSpPr txBox="1"/>
          <p:nvPr/>
        </p:nvSpPr>
        <p:spPr>
          <a:xfrm>
            <a:off x="4297680" y="4251960"/>
            <a:ext cx="3593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Jevton 小镇</a:t>
            </a:r>
            <a:r>
              <a:rPr lang="en-US" sz="1300" dirty="0">
                <a:solidFill>
                  <a:schemeClr val="tx2"/>
                </a:solidFill>
              </a:rPr>
              <a:t>：120 居民、20 家企业，每小时替每个人做一次决定</a:t>
            </a:r>
            <a:endParaRPr lang="en-US" sz="1300" dirty="0"/>
          </a:p>
        </p:txBody>
      </p:sp>
      <p:pic>
        <p:nvPicPr>
          <p:cNvPr id="11" name="sim.jpeg" descr="sim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645920"/>
            <a:ext cx="3456432" cy="2468880"/>
          </a:xfrm>
          <a:prstGeom prst="rect">
            <a:avLst/>
          </a:prstGeom>
        </p:spPr>
      </p:pic>
      <p:sp>
        <p:nvSpPr>
          <p:cNvPr id="12" name="sim.jpeg-frame"/>
          <p:cNvSpPr/>
          <p:nvPr/>
        </p:nvSpPr>
        <p:spPr>
          <a:xfrm>
            <a:off x="8115300" y="1645920"/>
            <a:ext cx="3456432" cy="2468880"/>
          </a:xfrm>
          <a:prstGeom prst="roundRect">
            <a:avLst>
              <a:gd name="adj" fmla="val 2222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3" name="cap"/>
          <p:cNvSpPr txBox="1"/>
          <p:nvPr/>
        </p:nvSpPr>
        <p:spPr>
          <a:xfrm>
            <a:off x="8046720" y="4251960"/>
            <a:ext cx="3593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仿真与控制</a:t>
            </a:r>
            <a:r>
              <a:rPr lang="en-US" sz="1300" dirty="0">
                <a:solidFill>
                  <a:schemeClr val="tx2"/>
                </a:solidFill>
              </a:rPr>
              <a:t>：约 0.1 秒一次决策。官方 Doom 演示每秒约 10 次，</a:t>
            </a:r>
            <a:r>
              <a:rPr lang="en-US" sz="1300" b="1" dirty="0">
                <a:solidFill>
                  <a:schemeClr val="tx1"/>
                </a:solidFill>
              </a:rPr>
              <a:t>喂的是坐标，不是画面</a:t>
            </a:r>
            <a:endParaRPr lang="en-US" sz="1300" dirty="0"/>
          </a:p>
        </p:txBody>
      </p:sp>
      <p:sp>
        <p:nvSpPr>
          <p:cNvPr id="14" name="takeaway"/>
          <p:cNvSpPr/>
          <p:nvPr/>
        </p:nvSpPr>
        <p:spPr>
          <a:xfrm>
            <a:off x="548640" y="557784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5" name="takeaway-text"/>
          <p:cNvSpPr txBox="1"/>
          <p:nvPr/>
        </p:nvSpPr>
        <p:spPr>
          <a:xfrm>
            <a:off x="731520" y="5577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它们说明 Jev 能</a:t>
            </a:r>
            <a:r>
              <a:rPr lang="en-US" sz="1500" b="1" dirty="0">
                <a:solidFill>
                  <a:schemeClr val="tx1"/>
                </a:solidFill>
              </a:rPr>
              <a:t>高频地做决策</a:t>
            </a:r>
            <a:r>
              <a:rPr lang="en-US" sz="1500" dirty="0">
                <a:solidFill>
                  <a:schemeClr val="tx1"/>
                </a:solidFill>
              </a:rPr>
              <a:t>，不说明它会玩游戏。网上"自动驾驶"之类的说法没有可靠依据，当形状探索看就好。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以后能用在哪：判断标准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以后用在哪 · 判断标准</a:t>
            </a:r>
            <a:endParaRPr lang="en-US" sz="1100" dirty="0"/>
          </a:p>
        </p:txBody>
      </p:sp>
      <p:sp>
        <p:nvSpPr>
          <p:cNvPr id="5" name="takeaway"/>
          <p:cNvSpPr/>
          <p:nvPr/>
        </p:nvSpPr>
        <p:spPr>
          <a:xfrm>
            <a:off x="548640" y="164592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6" name="takeaway-text"/>
          <p:cNvSpPr txBox="1"/>
          <p:nvPr/>
        </p:nvSpPr>
        <p:spPr>
          <a:xfrm>
            <a:off x="731520" y="16459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现在用大模型、但</a:t>
            </a:r>
            <a:r>
              <a:rPr lang="en-US" sz="2000" b="1" dirty="0">
                <a:solidFill>
                  <a:schemeClr val="tx1"/>
                </a:solidFill>
              </a:rPr>
              <a:t>其实只让它返回一个选项</a:t>
            </a:r>
            <a:r>
              <a:rPr lang="en-US" sz="2000" dirty="0">
                <a:solidFill>
                  <a:schemeClr val="tx1"/>
                </a:solidFill>
              </a:rPr>
              <a:t>的地方；或者"以前不值得上 AI"的小判断。</a:t>
            </a:r>
            <a:endParaRPr 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256032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85800" y="26517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高频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每秒多次</a:t>
            </a:r>
            <a:endParaRPr lang="en-US" sz="10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UI、游戏、实时控制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3355848" y="256032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3493008" y="26517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大批量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百万条</a:t>
            </a:r>
            <a:endParaRPr lang="en-US" sz="10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逐条判，输出免费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6163056" y="256032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rd-text"/>
          <p:cNvSpPr txBox="1"/>
          <p:nvPr/>
        </p:nvSpPr>
        <p:spPr>
          <a:xfrm>
            <a:off x="6300216" y="26517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要快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用户在等</a:t>
            </a:r>
            <a:endParaRPr lang="en-US" sz="10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几百毫秒内给结果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8970264" y="256032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ard-text"/>
          <p:cNvSpPr txBox="1"/>
          <p:nvPr/>
        </p:nvSpPr>
        <p:spPr>
          <a:xfrm>
            <a:off x="9107424" y="265176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要闸门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按把握分流</a:t>
            </a:r>
            <a:endParaRPr lang="en-US" sz="10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/ 复核 / 人工</a:t>
            </a:r>
            <a:endParaRPr lang="en-US" sz="1000" dirty="0"/>
          </a:p>
        </p:txBody>
      </p:sp>
      <p:sp>
        <p:nvSpPr>
          <p:cNvPr id="15" name="card"/>
          <p:cNvSpPr/>
          <p:nvPr/>
        </p:nvSpPr>
        <p:spPr>
          <a:xfrm>
            <a:off x="548640" y="452628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card-text"/>
          <p:cNvSpPr txBox="1"/>
          <p:nvPr/>
        </p:nvSpPr>
        <p:spPr>
          <a:xfrm>
            <a:off x="685800" y="461772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不适合</a:t>
            </a:r>
            <a:endParaRPr lang="en-US" sz="10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写作、开放问答、看图、要解释理由的场景 · 规则已经能稳定解决的（</a:t>
            </a: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别为了用模型而用模型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产品视角的 8 个方向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以后用在哪 · 8 个方向（头脑风暴）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44068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737360"/>
            <a:ext cx="5166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已有人跑通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评论 / 用户发布内容 / 表单实时初审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（输入即判）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客服与工单入口分流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：情绪、紧急度、部门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自动化测试 / 浏览器 Agent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里"点哪个"</a:t>
            </a:r>
            <a:endParaRPr lang="en-US" sz="10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AI 功能的路由器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：简单问题走小模型，Agent 工具调用护栏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6199632" y="1645920"/>
            <a:ext cx="544068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336792" y="1737360"/>
            <a:ext cx="5166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我们的设想（待验证）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搜索 / 筛选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：自然语言 → 筛选项或意图分类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埋点 / 日志 / 报错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自动分级，告警降噪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自适应 UI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：预测用户下一步，个性化入口</a:t>
            </a:r>
            <a:endParaRPr lang="en-US" sz="10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研发效率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：代码改动风险分级、Bug / 需求自动打标签</a:t>
            </a:r>
            <a:endParaRPr lang="en-US" sz="1000" dirty="0"/>
          </a:p>
        </p:txBody>
      </p:sp>
      <p:sp>
        <p:nvSpPr>
          <p:cNvPr id="9" name="takeaway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0" name="takeaway-text"/>
          <p:cNvSpPr txBox="1"/>
          <p:nvPr/>
        </p:nvSpPr>
        <p:spPr>
          <a:xfrm>
            <a:off x="731520" y="54406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游戏平台里的例子：</a:t>
            </a:r>
            <a:r>
              <a:rPr lang="en-US" sz="1500" dirty="0">
                <a:solidFill>
                  <a:schemeClr val="tx1"/>
                </a:solidFill>
              </a:rPr>
              <a:t>玩家评论 / 聊天实时审核 · 客服工单（充值、封号、BUG）分流 · 玩家反馈打标签。讨论：我们有哪些调用"只返回一个选项"？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趋势：AI 调用在分层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以后用在哪 · 趋势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029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737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军师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0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拆解复杂任务、写代码、写文案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3566160"/>
            <a:ext cx="5029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85800" y="36576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传令兵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Jev 这类判断模型</a:t>
            </a:r>
            <a:endParaRPr lang="en-US" sz="10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成百上千次的工具分拣、条件路由、合规拦截</a:t>
            </a:r>
            <a:endParaRPr lang="en-US" sz="1000" dirty="0"/>
          </a:p>
        </p:txBody>
      </p:sp>
      <p:sp>
        <p:nvSpPr>
          <p:cNvPr id="9" name="bullets"/>
          <p:cNvSpPr txBox="1"/>
          <p:nvPr/>
        </p:nvSpPr>
        <p:spPr>
          <a:xfrm>
            <a:off x="5943600" y="169164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杰文斯悖论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：东西变便宜以后，用量往往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不降反升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——Jev 的名字就来自它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同类已经跟进：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Decisions API、Cloudflare Clef、微软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题目和代码写好后，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换供应商成本很低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：别绑死一家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更本质的启发：程序之间交互，真的每一步都需要长篇自然语言吗？</a:t>
            </a:r>
            <a:endParaRPr lang="en-US" sz="1500" dirty="0"/>
          </a:p>
        </p:txBody>
      </p:sp>
      <p:sp>
        <p:nvSpPr>
          <p:cNvPr id="10" name="takeaway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1" name="takeaway-text"/>
          <p:cNvSpPr txBox="1"/>
          <p:nvPr/>
        </p:nvSpPr>
        <p:spPr>
          <a:xfrm>
            <a:off x="731520" y="56235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给系统装上一枚枚毫秒级响应的</a:t>
            </a:r>
            <a:r>
              <a:rPr lang="en-US" sz="1600" b="1" dirty="0">
                <a:solidFill>
                  <a:schemeClr val="tx1"/>
                </a:solidFill>
              </a:rPr>
              <a:t>智能 if</a:t>
            </a:r>
            <a:r>
              <a:rPr lang="en-US" sz="1600" dirty="0">
                <a:solidFill>
                  <a:schemeClr val="tx1"/>
                </a:solidFill>
              </a:rPr>
              <a:t>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怎么上手：从建 Key 到跑通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上手 · 建 Key 到跑通</a:t>
            </a:r>
            <a:endParaRPr lang="en-US" sz="1100" dirty="0"/>
          </a:p>
        </p:txBody>
      </p:sp>
      <p:sp>
        <p:nvSpPr>
          <p:cNvPr id="5" name="steps"/>
          <p:cNvSpPr txBox="1"/>
          <p:nvPr/>
        </p:nvSpPr>
        <p:spPr>
          <a:xfrm>
            <a:off x="548640" y="164592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建 Key</a:t>
            </a:r>
            <a:r>
              <a:rPr lang="en-US" sz="1500" dirty="0">
                <a:solidFill>
                  <a:schemeClr val="tx1"/>
                </a:solidFill>
              </a:rPr>
              <a:t>（接口密钥）：console.typesafe.ai → API Keys → 存成环境变量 TYPESAFE_API_KEY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先玩 Playground（试验场）</a:t>
            </a:r>
            <a:r>
              <a:rPr lang="en-US" sz="1500" dirty="0">
                <a:solidFill>
                  <a:schemeClr val="tx1"/>
                </a:solidFill>
              </a:rPr>
              <a:t>：左贴材料、右写题目、点 Run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发一条请求</a:t>
            </a:r>
            <a:r>
              <a:rPr lang="en-US" sz="1500" dirty="0">
                <a:solidFill>
                  <a:schemeClr val="tx1"/>
                </a:solidFill>
              </a:rPr>
              <a:t>：直接调用 API（接口），或用官方 SDK（开发工具包）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chemeClr val="tx1"/>
                </a:solidFill>
              </a:rPr>
              <a:t>上生产</a:t>
            </a:r>
            <a:r>
              <a:rPr lang="en-US" sz="1500" dirty="0">
                <a:solidFill>
                  <a:schemeClr val="tx1"/>
                </a:solidFill>
              </a:rPr>
              <a:t>：写死模型版本，别用 jev-latest</a:t>
            </a:r>
            <a:endParaRPr lang="en-US" sz="1500" dirty="0"/>
          </a:p>
        </p:txBody>
      </p:sp>
      <p:sp>
        <p:nvSpPr>
          <p:cNvPr id="6" name="takeaway"/>
          <p:cNvSpPr/>
          <p:nvPr/>
        </p:nvSpPr>
        <p:spPr>
          <a:xfrm>
            <a:off x="548640" y="4023360"/>
            <a:ext cx="5394960" cy="566928"/>
          </a:xfrm>
          <a:prstGeom prst="roundRect">
            <a:avLst>
              <a:gd name="adj" fmla="val 12903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7" name="takeaway-text"/>
          <p:cNvSpPr txBox="1"/>
          <p:nvPr/>
        </p:nvSpPr>
        <p:spPr>
          <a:xfrm>
            <a:off x="731520" y="40233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⚠ Key 只放在后端服务里，</a:t>
            </a:r>
            <a:r>
              <a:rPr lang="en-US" sz="1400" b="1" dirty="0">
                <a:solidFill>
                  <a:schemeClr val="tx1"/>
                </a:solidFill>
              </a:rPr>
              <a:t>不进浏览器、不进代码仓库、不发群</a:t>
            </a:r>
            <a:r>
              <a:rPr lang="en-US" sz="1400" dirty="0">
                <a:solidFill>
                  <a:schemeClr val="tx1"/>
                </a:solidFill>
              </a:rPr>
              <a:t>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4709160"/>
            <a:ext cx="53949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685800" y="4800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typesafe.ai　</a:t>
            </a: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docs.typesafe.ai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console.typesafe.ai/home</a:t>
            </a:r>
            <a:endParaRPr lang="en-US" sz="1300" dirty="0"/>
          </a:p>
        </p:txBody>
      </p:sp>
      <p:sp>
        <p:nvSpPr>
          <p:cNvPr id="10" name="cap"/>
          <p:cNvSpPr txBox="1"/>
          <p:nvPr/>
        </p:nvSpPr>
        <p:spPr>
          <a:xfrm>
            <a:off x="548640" y="5669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也可以通过 OpenRouter 等第三方平台调用，不用排队；账号政策、赠金变动快，以控制台为准。</a:t>
            </a:r>
            <a:endParaRPr lang="en-US" sz="1100" dirty="0"/>
          </a:p>
        </p:txBody>
      </p:sp>
      <p:pic>
        <p:nvPicPr>
          <p:cNvPr id="11" name="console.jpg" descr="cons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54480"/>
            <a:ext cx="5330952" cy="2983449"/>
          </a:xfrm>
          <a:prstGeom prst="rect">
            <a:avLst/>
          </a:prstGeom>
        </p:spPr>
      </p:pic>
      <p:sp>
        <p:nvSpPr>
          <p:cNvPr id="12" name="console.jpg-frame"/>
          <p:cNvSpPr/>
          <p:nvPr/>
        </p:nvSpPr>
        <p:spPr>
          <a:xfrm>
            <a:off x="6309360" y="1554480"/>
            <a:ext cx="5330952" cy="2983449"/>
          </a:xfrm>
          <a:prstGeom prst="roundRect">
            <a:avLst>
              <a:gd name="adj" fmla="val 1839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3" name="cap"/>
          <p:cNvSpPr txBox="1"/>
          <p:nvPr/>
        </p:nvSpPr>
        <p:spPr>
          <a:xfrm>
            <a:off x="6309360" y="51663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控制台首页：① 复制 Agent 提示　② 查看 Token 用量　③ 核心功能演示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控制台实操：不写代码先跑通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上手 · console.typesafe.ai 的 Playground</a:t>
            </a:r>
            <a:endParaRPr lang="en-US" sz="1100" dirty="0"/>
          </a:p>
        </p:txBody>
      </p:sp>
      <p:sp>
        <p:nvSpPr>
          <p:cNvPr id="5" name="link"/>
          <p:cNvSpPr txBox="1"/>
          <p:nvPr/>
        </p:nvSpPr>
        <p:spPr>
          <a:xfrm>
            <a:off x="5669280" y="457200"/>
            <a:ext cx="5971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https://console.typesafe.ai/home</a:t>
            </a:r>
            <a:endParaRPr lang="en-US" sz="1200" dirty="0"/>
          </a:p>
        </p:txBody>
      </p:sp>
      <p:pic>
        <p:nvPicPr>
          <p:cNvPr id="6" name="playground-home.png" descr="playground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625" y="1554480"/>
            <a:ext cx="5128711" cy="2743200"/>
          </a:xfrm>
          <a:prstGeom prst="rect">
            <a:avLst/>
          </a:prstGeom>
        </p:spPr>
      </p:pic>
      <p:sp>
        <p:nvSpPr>
          <p:cNvPr id="7" name="playground-home.png-frame"/>
          <p:cNvSpPr/>
          <p:nvPr/>
        </p:nvSpPr>
        <p:spPr>
          <a:xfrm>
            <a:off x="704625" y="1554480"/>
            <a:ext cx="5128711" cy="2743200"/>
          </a:xfrm>
          <a:prstGeom prst="roundRect">
            <a:avLst>
              <a:gd name="adj" fmla="val 2000"/>
            </a:avLst>
          </a:prstGeom>
          <a:ln w="9525">
            <a:solidFill>
              <a:srgbClr val="1B2942"/>
            </a:solidFill>
            <a:prstDash val="solid"/>
          </a:ln>
        </p:spPr>
      </p:sp>
      <p:pic>
        <p:nvPicPr>
          <p:cNvPr id="8" name="playground-run.png" descr="playground-r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617" y="1554480"/>
            <a:ext cx="5128711" cy="2743200"/>
          </a:xfrm>
          <a:prstGeom prst="rect">
            <a:avLst/>
          </a:prstGeom>
        </p:spPr>
      </p:pic>
      <p:sp>
        <p:nvSpPr>
          <p:cNvPr id="9" name="playground-run.png-frame"/>
          <p:cNvSpPr/>
          <p:nvPr/>
        </p:nvSpPr>
        <p:spPr>
          <a:xfrm>
            <a:off x="6355617" y="1554480"/>
            <a:ext cx="5128711" cy="2743200"/>
          </a:xfrm>
          <a:prstGeom prst="roundRect">
            <a:avLst>
              <a:gd name="adj" fmla="val 2000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548640" y="4389120"/>
            <a:ext cx="54406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1" name="card-text"/>
          <p:cNvSpPr txBox="1"/>
          <p:nvPr/>
        </p:nvSpPr>
        <p:spPr>
          <a:xfrm>
            <a:off x="685800" y="448056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认界面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：左上写 State（材料），左下写 Questions（题目），点 Run request。右边是官方示例：热狗算三明治吗（是非）· 天空什么颜色（单选）· 猴子能创作艺术吗（打分）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6199632" y="4389120"/>
            <a:ext cx="544068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3" name="card-text"/>
          <p:cNvSpPr txBox="1"/>
          <p:nvPr/>
        </p:nvSpPr>
        <p:spPr>
          <a:xfrm>
            <a:off x="6336792" y="448056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用中文跑一次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：材料「我买的耳机用了两天就坏了，请帮我退款。」+ 两道题 → 退款 100%（把握度 100%）· 要退款 98% · 约 43 + 255 ms</a:t>
            </a:r>
            <a:endParaRPr lang="en-US" sz="1250" dirty="0"/>
          </a:p>
        </p:txBody>
      </p:sp>
      <p:sp>
        <p:nvSpPr>
          <p:cNvPr id="14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5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Playground 左边的两个框，就是 API 的 state 和 questions——</a:t>
            </a:r>
            <a:r>
              <a:rPr lang="en-US" sz="1500" b="1" dirty="0">
                <a:solidFill>
                  <a:schemeClr val="tx1"/>
                </a:solidFill>
              </a:rPr>
              <a:t>在这里调好题目，复制进代码就能用</a:t>
            </a:r>
            <a:r>
              <a:rPr lang="en-US" sz="1500" dirty="0">
                <a:solidFill>
                  <a:schemeClr val="tx1"/>
                </a:solidFill>
              </a:rPr>
              <a:t>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写题规则 ①：哪些是固定的，哪些自己起名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上手 · 写题规则（最外层固定为 model / state / questions）</a:t>
            </a:r>
            <a:endParaRPr lang="en-US" sz="1100" dirty="0"/>
          </a:p>
        </p:txBody>
      </p:sp>
      <p:sp>
        <p:nvSpPr>
          <p:cNvPr id="5" name="code-bg"/>
          <p:cNvSpPr/>
          <p:nvPr/>
        </p:nvSpPr>
        <p:spPr>
          <a:xfrm>
            <a:off x="548640" y="150876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05091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85800" y="160020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"request_type"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"choice"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"instructions"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"根据 message，判断用户的主要诉求。"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"criteria"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"refund"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"要求退款"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"repair"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"要求维修"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"other"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"其他诉求"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"wants_refund"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"noul"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"instructions"</a:t>
            </a: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 中的用户是否明确要求退款？"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F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legend"/>
          <p:cNvSpPr txBox="1"/>
          <p:nvPr/>
        </p:nvSpPr>
        <p:spPr>
          <a:xfrm>
            <a:off x="548640" y="52120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■ 固定字段名　</a:t>
            </a:r>
            <a:r>
              <a:rPr lang="en-US" sz="1100" dirty="0">
                <a:solidFill>
                  <a:schemeClr val="accent2"/>
                </a:solidFill>
              </a:rPr>
              <a:t>■ 规定的类型值　</a:t>
            </a:r>
            <a:r>
              <a:rPr lang="en-US" sz="1100" dirty="0">
                <a:solidFill>
                  <a:schemeClr val="accent5"/>
                </a:solidFill>
              </a:rPr>
              <a:t>■ 自己起名　</a:t>
            </a:r>
            <a:r>
              <a:rPr lang="en-US" sz="1100" dirty="0">
                <a:solidFill>
                  <a:schemeClr val="accent3"/>
                </a:solidFill>
              </a:rPr>
              <a:t>■ 自己填写的内容</a:t>
            </a:r>
            <a:endParaRPr lang="en-US" sz="1100" dirty="0"/>
          </a:p>
        </p:txBody>
      </p:sp>
      <p:graphicFrame>
        <p:nvGraphicFramePr>
          <p:cNvPr id="34" name="ru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650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2633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内容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是否固定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request_type、wants_refund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自己命名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题目的名字，可改成 category 等；结果用同名字段返回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固定字段名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告诉 Jev 用哪种方式回答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"choice"、"noul"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规定的类型值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只能从 choice / noul / score / box 里选，不能随意编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instructions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固定字段名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后面的问题内容由你填写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criteria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固定字段名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定义选项或评分标准，具体格式取决于 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refund、repair、other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自己命名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选项标识，选中后返回这个名字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"要求退款" 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自己填写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解释每个选项代表什么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</a:tbl>
          </a:graphicData>
        </a:graphic>
      </p:graphicFrame>
      <p:sp>
        <p:nvSpPr>
          <p:cNvPr id="9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0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一句话：</a:t>
            </a:r>
            <a:r>
              <a:rPr lang="en-US" sz="1600" b="1" dirty="0">
                <a:solidFill>
                  <a:schemeClr val="tx1"/>
                </a:solidFill>
              </a:rPr>
              <a:t>固定的是"形状"（字段名和类型），自己写的是"内容"（题目、选项、说明）。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写题规则 ②：type 只能四选一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上手 · 写题规则（规定回答形式，内容由你写）</a:t>
            </a:r>
            <a:endParaRPr lang="en-US" sz="1100" dirty="0"/>
          </a:p>
        </p:txBody>
      </p:sp>
      <p:graphicFrame>
        <p:nvGraphicFramePr>
          <p:cNvPr id="35" name="typ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3657600"/>
                <a:gridCol w="4965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回答形式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criteria 怎么写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返回什么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noul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是非题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通常不需要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noul：0–1 的"是"的概率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choice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单选题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对象：选项名 → 说明，最多 255 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choice（选中的名字）、probabilities（各项概率）、confidence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score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打分题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数组：从低到高的等级说明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score（可为小数）、probabilities、confidence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框选（需图片）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不需要，只写 instructions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EF9"/>
                          </a:solidFill>
                        </a:rPr>
                        <a:t>box（top/bottom/left/right，0–1 比例）+ confidence；需图片和 Danger-Zone-Images 请求头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4480560"/>
            <a:ext cx="267919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rd-text"/>
          <p:cNvSpPr txBox="1"/>
          <p:nvPr/>
        </p:nvSpPr>
        <p:spPr>
          <a:xfrm>
            <a:off x="685800" y="4572000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规矩 1</a:t>
            </a:r>
            <a:endParaRPr lang="en-US" sz="10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选项要</a:t>
            </a: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互斥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：别同时写"售后"和"退货"，除非你能一句话说清差别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3364992" y="4480560"/>
            <a:ext cx="267919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3502152" y="4572000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规矩 2</a:t>
            </a:r>
            <a:endParaRPr lang="en-US" sz="10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单选题留一个 other：不然它会</a:t>
            </a: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硬选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一个最像的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6181344" y="4480560"/>
            <a:ext cx="267919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ard-text"/>
          <p:cNvSpPr txBox="1"/>
          <p:nvPr/>
        </p:nvSpPr>
        <p:spPr>
          <a:xfrm>
            <a:off x="6318504" y="4572000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规矩 3</a:t>
            </a:r>
            <a:endParaRPr lang="en-US" sz="10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名字用</a:t>
            </a: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 + 下划线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：代码里要用它读结果</a:t>
            </a:r>
            <a:endParaRPr lang="en-US" sz="1000" dirty="0"/>
          </a:p>
        </p:txBody>
      </p:sp>
      <p:sp>
        <p:nvSpPr>
          <p:cNvPr id="12" name="card"/>
          <p:cNvSpPr/>
          <p:nvPr/>
        </p:nvSpPr>
        <p:spPr>
          <a:xfrm>
            <a:off x="8997696" y="4480560"/>
            <a:ext cx="267919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-text"/>
          <p:cNvSpPr txBox="1"/>
          <p:nvPr/>
        </p:nvSpPr>
        <p:spPr>
          <a:xfrm>
            <a:off x="9134856" y="4572000"/>
            <a:ext cx="2404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规矩 4</a:t>
            </a:r>
            <a:endParaRPr lang="en-US" sz="1000" dirty="0"/>
          </a:p>
          <a:p>
            <a:pPr algn="l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一题只问一件事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；同一份材料的多道题，合并成一次请求</a:t>
            </a:r>
            <a:endParaRPr lang="en-US" sz="1000" dirty="0"/>
          </a:p>
        </p:txBody>
      </p:sp>
      <p:sp>
        <p:nvSpPr>
          <p:cNvPr id="14" name="takeaway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5" name="takeaway-text"/>
          <p:cNvSpPr txBox="1"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报错先查：type 拼写；单选的 criteria 用</a:t>
            </a:r>
            <a:r>
              <a:rPr lang="en-US" sz="1500" b="1" dirty="0">
                <a:solidFill>
                  <a:schemeClr val="tx1"/>
                </a:solidFill>
              </a:rPr>
              <a:t>对象</a:t>
            </a:r>
            <a:r>
              <a:rPr lang="en-US" sz="1500" dirty="0">
                <a:solidFill>
                  <a:schemeClr val="tx1"/>
                </a:solidFill>
              </a:rPr>
              <a:t>、打分的用</a:t>
            </a:r>
            <a:r>
              <a:rPr lang="en-US" sz="1500" b="1" dirty="0">
                <a:solidFill>
                  <a:schemeClr val="tx1"/>
                </a:solidFill>
              </a:rPr>
              <a:t>数组</a:t>
            </a:r>
            <a:r>
              <a:rPr lang="en-US" sz="1500" dirty="0">
                <a:solidFill>
                  <a:schemeClr val="tx1"/>
                </a:solidFill>
              </a:rPr>
              <a:t>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MCP、Skill 与 Harness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上手 · 先认三个词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82880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· 管"能连上什么"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Context Protocol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模型上下文协议</a:t>
            </a:r>
            <a:endParaRPr lang="en-US" sz="10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连外部系统（数据库、Slack、文档）的统一接口标准，像 AI 的 </a:t>
            </a: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USB-C 口</a:t>
            </a: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：3 个 AI × 4 个工具，12 套对接变成 3 + 4 = 7。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4297680" y="1737360"/>
            <a:ext cx="35661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4434840" y="182880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· 管"该怎么做"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Skill（技能包）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写给 AI 的操作手册</a:t>
            </a:r>
            <a:endParaRPr lang="en-US" sz="10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一个文件夹：说明书 + 脚本示例，</a:t>
            </a: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用到才读入</a:t>
            </a: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，不撑爆上下文。像新人入职手册。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8046720" y="1737360"/>
            <a:ext cx="3593592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8183880" y="1828800"/>
            <a:ext cx="33192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· 管"怎么跑起来"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Harness（运行框架）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包在大模型外的整辆车</a:t>
            </a:r>
            <a:endParaRPr lang="en-US" sz="1000" dirty="0"/>
          </a:p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大模型是发动机，Harness 负责循环、调工具、管上下文。</a:t>
            </a:r>
            <a:r>
              <a:rPr lang="en-US" sz="17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本身就是一个。</a:t>
            </a:r>
            <a:endParaRPr lang="en-US" sz="1000" dirty="0"/>
          </a:p>
        </p:txBody>
      </p:sp>
      <p:sp>
        <p:nvSpPr>
          <p:cNvPr id="11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2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下一页马上用到：官方 </a:t>
            </a:r>
            <a:r>
              <a:rPr lang="en-US" sz="1600" b="1" dirty="0">
                <a:solidFill>
                  <a:schemeClr val="tx1"/>
                </a:solidFill>
              </a:rPr>
              <a:t>Skill</a:t>
            </a:r>
            <a:r>
              <a:rPr lang="en-US" sz="1600" dirty="0">
                <a:solidFill>
                  <a:schemeClr val="tx1"/>
                </a:solidFill>
              </a:rPr>
              <a:t> 教编码助手怎么写调用代码，文档 </a:t>
            </a:r>
            <a:r>
              <a:rPr lang="en-US" sz="1600" b="1" dirty="0">
                <a:solidFill>
                  <a:schemeClr val="tx1"/>
                </a:solidFill>
              </a:rPr>
              <a:t>MCP</a:t>
            </a:r>
            <a:r>
              <a:rPr lang="en-US" sz="1600" dirty="0">
                <a:solidFill>
                  <a:schemeClr val="tx1"/>
                </a:solidFill>
              </a:rPr>
              <a:t> 让它随时查最新官方文档。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Claude Code / Codex 里用起来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上手 · 编码助手</a:t>
            </a:r>
            <a:endParaRPr lang="en-US" sz="1100" dirty="0"/>
          </a:p>
        </p:txBody>
      </p:sp>
      <p:sp>
        <p:nvSpPr>
          <p:cNvPr id="5" name="takeaway"/>
          <p:cNvSpPr/>
          <p:nvPr/>
        </p:nvSpPr>
        <p:spPr>
          <a:xfrm>
            <a:off x="548640" y="15544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6" name="takeaway-text"/>
          <p:cNvSpPr txBox="1"/>
          <p:nvPr/>
        </p:nvSpPr>
        <p:spPr>
          <a:xfrm>
            <a:off x="731520" y="15544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编码助手负责</a:t>
            </a:r>
            <a:r>
              <a:rPr lang="en-US" sz="1600" b="1" dirty="0">
                <a:solidFill>
                  <a:schemeClr val="tx1"/>
                </a:solidFill>
              </a:rPr>
              <a:t>写调用 Jev 的代码</a:t>
            </a:r>
            <a:r>
              <a:rPr lang="en-US" sz="1600" dirty="0">
                <a:solidFill>
                  <a:schemeClr val="tx1"/>
                </a:solidFill>
              </a:rPr>
              <a:t>；Jev 在</a:t>
            </a:r>
            <a:r>
              <a:rPr lang="en-US" sz="1600" b="1" dirty="0">
                <a:solidFill>
                  <a:schemeClr val="tx1"/>
                </a:solidFill>
              </a:rPr>
              <a:t>你的应用里</a:t>
            </a:r>
            <a:r>
              <a:rPr lang="en-US" sz="1600" dirty="0">
                <a:solidFill>
                  <a:schemeClr val="tx1"/>
                </a:solidFill>
              </a:rPr>
              <a:t>做判断。它替换不了助手背后的模型。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233172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85800" y="2423160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· 安装官方 Skill（技能包）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31520" y="274320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marketplace add typesafe-ai/skills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plugin install typesafe@typesafe-ai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调用：/typesafe:typesafe-ai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或提示词里写 "use the TypeSafe skill"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6199632" y="2331720"/>
            <a:ext cx="54406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ard-text"/>
          <p:cNvSpPr txBox="1"/>
          <p:nvPr/>
        </p:nvSpPr>
        <p:spPr>
          <a:xfrm>
            <a:off x="6336792" y="2423160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/ CURSOR</a:t>
            </a:r>
            <a:endParaRPr lang="en-US" sz="1000" dirty="0"/>
          </a:p>
        </p:txBody>
      </p:sp>
      <p:sp>
        <p:nvSpPr>
          <p:cNvPr id="12" name="code"/>
          <p:cNvSpPr txBox="1"/>
          <p:nvPr/>
        </p:nvSpPr>
        <p:spPr>
          <a:xfrm>
            <a:off x="6382512" y="274320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skills add typesafe-ai/skills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--skill typesafe-ai -a codex -a cursor -y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Codex 里：$typesafe-ai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6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Cursor Agent 里：/ 选 typesafe-ai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548640" y="44348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rgbClr val="1B2942"/>
            </a:solidFill>
            <a:prstDash val="solid"/>
          </a:ln>
        </p:spPr>
      </p:sp>
      <p:sp>
        <p:nvSpPr>
          <p:cNvPr id="14" name="card-text"/>
          <p:cNvSpPr txBox="1"/>
          <p:nvPr/>
        </p:nvSpPr>
        <p:spPr>
          <a:xfrm>
            <a:off x="685800" y="4526280"/>
            <a:ext cx="5166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可选：文档 MCP（让助手直接查官方文档）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mcp add --transport http typesafe-docs https://docs.typesafe.ai/mcp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同一工具只用一种装法，否则 skill 重复加载</a:t>
            </a:r>
            <a:endParaRPr lang="en-US" sz="1000" dirty="0"/>
          </a:p>
        </p:txBody>
      </p:sp>
      <p:sp>
        <p:nvSpPr>
          <p:cNvPr id="15" name="card"/>
          <p:cNvSpPr/>
          <p:nvPr/>
        </p:nvSpPr>
        <p:spPr>
          <a:xfrm>
            <a:off x="6199632" y="4434840"/>
            <a:ext cx="544068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card-text"/>
          <p:cNvSpPr txBox="1"/>
          <p:nvPr/>
        </p:nvSpPr>
        <p:spPr>
          <a:xfrm>
            <a:off x="6336792" y="4526280"/>
            <a:ext cx="5166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推荐第一条提示词</a:t>
            </a:r>
            <a:endParaRPr lang="en-US" sz="1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"用 TypeSafe skill 扫一遍项目，列出哪些写得很脆弱的文本匹配规则、或要求 AI 输出固定格式的地方，可以换成判断，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先给清单，别改代码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。"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挤水分：六个坑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水分与落地 · 六个坑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5394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64592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宣传 vs 现实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68% 准确率是"和两个前沿大模型一致的程度"，不是真值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有标注数据时，</a:t>
            </a:r>
            <a:r>
              <a:rPr lang="en-US" sz="13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先训一个传统小模型</a:t>
            </a:r>
            <a:r>
              <a:rPr lang="en-US" sz="13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：在一个银行客服题库上，传统小模型 93.3% 胜过 Jev 83.2%（据转述，未核对原评测）</a:t>
            </a:r>
            <a:endParaRPr lang="en-US" sz="100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简单规则可能更准：识别钓鱼邮件，两条文本匹配规则 91.8% vs Jev 62.6%</a:t>
            </a:r>
            <a:endParaRPr lang="en-US" sz="1000" dirty="0"/>
          </a:p>
        </p:txBody>
      </p:sp>
      <p:pic>
        <p:nvPicPr>
          <p:cNvPr id="7" name="projects217.jpeg" descr="projects21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840480"/>
            <a:ext cx="3840480" cy="1371600"/>
          </a:xfrm>
          <a:prstGeom prst="rect">
            <a:avLst/>
          </a:prstGeom>
        </p:spPr>
      </p:pic>
      <p:sp>
        <p:nvSpPr>
          <p:cNvPr id="8" name="projects217.jpeg-frame"/>
          <p:cNvSpPr/>
          <p:nvPr/>
        </p:nvSpPr>
        <p:spPr>
          <a:xfrm>
            <a:off x="1325880" y="3840480"/>
            <a:ext cx="3840480" cy="1371600"/>
          </a:xfrm>
          <a:prstGeom prst="roundRect">
            <a:avLst>
              <a:gd name="adj" fmla="val 4000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9" name="cap"/>
          <p:cNvSpPr txBox="1"/>
          <p:nvPr/>
        </p:nvSpPr>
        <p:spPr>
          <a:xfrm>
            <a:off x="548640" y="52852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217 个 Jev 项目，今天能直接用的只有 15 个</a:t>
            </a:r>
            <a:endParaRPr lang="en-US" sz="1200" dirty="0"/>
          </a:p>
        </p:txBody>
      </p:sp>
      <p:graphicFrame>
        <p:nvGraphicFramePr>
          <p:cNvPr id="38" name="pitfall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54480"/>
          <a:ext cx="54223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791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对策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数数 / 算术 / 日期不可靠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代码里算好再给它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材料越杂越不准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先裁剪，只留判断要用的字段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中文弱于英文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用中文真实样本盲测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提示词注入（输入里夹带指令）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不可逆动作另设硬规则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偏向第一个选项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测试时打乱选项顺序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只给概率不给理由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另记输入、选项、把握日志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</a:tbl>
          </a:graphicData>
        </a:graphic>
      </p:graphicFrame>
      <p:pic>
        <p:nvPicPr>
          <p:cNvPr id="11" name="fails.jpeg" descr="fails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4114800"/>
            <a:ext cx="3456432" cy="1234440"/>
          </a:xfrm>
          <a:prstGeom prst="rect">
            <a:avLst/>
          </a:prstGeom>
        </p:spPr>
      </p:pic>
      <p:sp>
        <p:nvSpPr>
          <p:cNvPr id="12" name="fails.jpeg-frame"/>
          <p:cNvSpPr/>
          <p:nvPr/>
        </p:nvSpPr>
        <p:spPr>
          <a:xfrm>
            <a:off x="7200900" y="4114800"/>
            <a:ext cx="3456432" cy="1234440"/>
          </a:xfrm>
          <a:prstGeom prst="roundRect">
            <a:avLst>
              <a:gd name="adj" fmla="val 4444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13" name="cap"/>
          <p:cNvSpPr txBox="1"/>
          <p:nvPr/>
        </p:nvSpPr>
        <p:spPr>
          <a:xfrm>
            <a:off x="6217920" y="5394960"/>
            <a:ext cx="5422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作者把 Jev 塞进日常工具，四次全败：看不到内容、订阅制没省钱空间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落地三步：盘点、盲测、双轨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水分与落地 · 三步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4937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691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盘点</a:t>
            </a:r>
            <a:endParaRPr lang="en-US" sz="1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列出所有</a:t>
            </a:r>
            <a:r>
              <a:rPr lang="en-US" sz="16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"只要返回一个选项"</a:t>
            </a:r>
            <a:r>
              <a:rPr lang="en-US" sz="16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的调用：分类、路由、审核、打分。一个都没有，就别追这个热点。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548640" y="3108960"/>
            <a:ext cx="4937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68580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盲测</a:t>
            </a:r>
            <a:endParaRPr lang="en-US" sz="1000" dirty="0"/>
          </a:p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条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以上真实旧数据、人工先标答案；按把握度 0.9 / 0.7 切成三档，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看每一档各对多少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；选项打乱顺序再测一遍。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48640" y="4617720"/>
            <a:ext cx="4937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685800" y="4709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双轨</a:t>
            </a:r>
            <a:endParaRPr lang="en-US" sz="10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旧规则照跑，Jev 只记日志</a:t>
            </a:r>
            <a:r>
              <a:rPr lang="en-US" sz="15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</a:t>
            </a: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；只有"高把握档"且和旧结果一致的才切自动，阈值从 0.9 起步。</a:t>
            </a:r>
            <a:endParaRPr lang="en-US" sz="1000" dirty="0"/>
          </a:p>
        </p:txBody>
      </p:sp>
      <p:pic>
        <p:nvPicPr>
          <p:cNvPr id="11" name="dual.jpg" descr="d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08760"/>
            <a:ext cx="2926080" cy="3901440"/>
          </a:xfrm>
          <a:prstGeom prst="rect">
            <a:avLst/>
          </a:prstGeom>
        </p:spPr>
      </p:pic>
      <p:sp>
        <p:nvSpPr>
          <p:cNvPr id="12" name="dual.jpg-frame"/>
          <p:cNvSpPr/>
          <p:nvPr/>
        </p:nvSpPr>
        <p:spPr>
          <a:xfrm>
            <a:off x="5760720" y="1508760"/>
            <a:ext cx="2926080" cy="3901440"/>
          </a:xfrm>
          <a:prstGeom prst="roundRect">
            <a:avLst>
              <a:gd name="adj" fmla="val 1875"/>
            </a:avLst>
          </a:prstGeom>
          <a:ln w="9525">
            <a:solidFill>
              <a:srgbClr val="1B2942"/>
            </a:solidFill>
            <a:prstDash val="solid"/>
          </a:ln>
        </p:spPr>
      </p:sp>
      <p:pic>
        <p:nvPicPr>
          <p:cNvPr id="13" name="checklist.jpg" descr="checkli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508760"/>
            <a:ext cx="2862072" cy="3816096"/>
          </a:xfrm>
          <a:prstGeom prst="rect">
            <a:avLst/>
          </a:prstGeom>
        </p:spPr>
      </p:pic>
      <p:sp>
        <p:nvSpPr>
          <p:cNvPr id="14" name="checklist.jpg-frame"/>
          <p:cNvSpPr/>
          <p:nvPr/>
        </p:nvSpPr>
        <p:spPr>
          <a:xfrm>
            <a:off x="8778240" y="1508760"/>
            <a:ext cx="2862072" cy="3816096"/>
          </a:xfrm>
          <a:prstGeom prst="roundRect">
            <a:avLst>
              <a:gd name="adj" fmla="val 1917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压轴：一个会变形的输入框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压轴演示 · 把今天讲的串起来</a:t>
            </a:r>
            <a:endParaRPr lang="en-US" sz="1100" dirty="0"/>
          </a:p>
        </p:txBody>
      </p:sp>
      <p:sp>
        <p:nvSpPr>
          <p:cNvPr id="5" name="node"/>
          <p:cNvSpPr/>
          <p:nvPr/>
        </p:nvSpPr>
        <p:spPr>
          <a:xfrm>
            <a:off x="548640" y="16002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ode-text"/>
          <p:cNvSpPr txBox="1"/>
          <p:nvPr/>
        </p:nvSpPr>
        <p:spPr>
          <a:xfrm>
            <a:off x="640080" y="1600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你打一句话</a:t>
            </a:r>
            <a:endParaRPr lang="en-US" sz="1400" dirty="0"/>
          </a:p>
        </p:txBody>
      </p:sp>
      <p:sp>
        <p:nvSpPr>
          <p:cNvPr id="7" name="arrow"/>
          <p:cNvSpPr txBox="1"/>
          <p:nvPr/>
        </p:nvSpPr>
        <p:spPr>
          <a:xfrm>
            <a:off x="192024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node"/>
          <p:cNvSpPr/>
          <p:nvPr/>
        </p:nvSpPr>
        <p:spPr>
          <a:xfrm>
            <a:off x="2240280" y="1600200"/>
            <a:ext cx="16002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ode-text"/>
          <p:cNvSpPr txBox="1"/>
          <p:nvPr/>
        </p:nvSpPr>
        <p:spPr>
          <a:xfrm>
            <a:off x="2331720" y="1600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Jev：8 道题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一次请求并行</a:t>
            </a:r>
            <a:endParaRPr lang="en-US" sz="1400" dirty="0"/>
          </a:p>
        </p:txBody>
      </p:sp>
      <p:sp>
        <p:nvSpPr>
          <p:cNvPr id="10" name="arrow"/>
          <p:cNvSpPr txBox="1"/>
          <p:nvPr/>
        </p:nvSpPr>
        <p:spPr>
          <a:xfrm>
            <a:off x="384048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node"/>
          <p:cNvSpPr/>
          <p:nvPr/>
        </p:nvSpPr>
        <p:spPr>
          <a:xfrm>
            <a:off x="4160520" y="160020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ode-text"/>
          <p:cNvSpPr txBox="1"/>
          <p:nvPr/>
        </p:nvSpPr>
        <p:spPr>
          <a:xfrm>
            <a:off x="4251960" y="16002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代码：解析 + 计算</a:t>
            </a:r>
            <a:endParaRPr lang="en-US" sz="1400" dirty="0"/>
          </a:p>
        </p:txBody>
      </p:sp>
      <p:sp>
        <p:nvSpPr>
          <p:cNvPr id="13" name="arrow"/>
          <p:cNvSpPr txBox="1"/>
          <p:nvPr/>
        </p:nvSpPr>
        <p:spPr>
          <a:xfrm>
            <a:off x="5577840" y="1737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node"/>
          <p:cNvSpPr/>
          <p:nvPr/>
        </p:nvSpPr>
        <p:spPr>
          <a:xfrm>
            <a:off x="5897880" y="1600200"/>
            <a:ext cx="8229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node-text"/>
          <p:cNvSpPr txBox="1"/>
          <p:nvPr/>
        </p:nvSpPr>
        <p:spPr>
          <a:xfrm>
            <a:off x="5989320" y="16002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卡片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2514600"/>
            <a:ext cx="617220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ard-text"/>
          <p:cNvSpPr txBox="1"/>
          <p:nvPr/>
        </p:nvSpPr>
        <p:spPr>
          <a:xfrm>
            <a:off x="685800" y="2606040"/>
            <a:ext cx="5897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JEV 只管"判断"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intent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单选：15 种卡片（日程 / 提醒 / 清单 / 计时 / AA / 换算 / 投票……）+ none 出口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readiness / urgency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打分：写完整了吗、急不急</a:t>
            </a:r>
            <a:endParaRPr lang="en-US" sz="1000" dirty="0"/>
          </a:p>
          <a:p>
            <a:pPr algn="l" indent="0" marL="0">
              <a:buNone/>
            </a:pP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eventMode / expenseCategory / timerKind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单选，</a:t>
            </a: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isShoppingList / recurring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是非：决定卡片细节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548640" y="4343400"/>
            <a:ext cx="61722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card-text"/>
          <p:cNvSpPr txBox="1"/>
          <p:nvPr/>
        </p:nvSpPr>
        <p:spPr>
          <a:xfrm>
            <a:off x="685800" y="4434840"/>
            <a:ext cx="5897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代码负责"计算"</a:t>
            </a:r>
            <a:endParaRPr lang="en-US" sz="10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日期、金额、人数、单位、算式全部由代码解析：</a:t>
            </a:r>
            <a:r>
              <a:rPr lang="en-US" sz="13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不让模型数数、算账、推日期</a:t>
            </a:r>
            <a:r>
              <a:rPr lang="en-US" sz="13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（对应"六个坑"第一条）</a:t>
            </a:r>
            <a:endParaRPr lang="en-US" sz="1000" dirty="0"/>
          </a:p>
        </p:txBody>
      </p:sp>
      <p:sp>
        <p:nvSpPr>
          <p:cNvPr id="20" name="card"/>
          <p:cNvSpPr/>
          <p:nvPr/>
        </p:nvSpPr>
        <p:spPr>
          <a:xfrm>
            <a:off x="6903720" y="1600200"/>
            <a:ext cx="4736592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card-text"/>
          <p:cNvSpPr txBox="1"/>
          <p:nvPr/>
        </p:nvSpPr>
        <p:spPr>
          <a:xfrm>
            <a:off x="7040880" y="1691640"/>
            <a:ext cx="44622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界面上的"按把握分流"</a:t>
            </a:r>
            <a:endParaRPr lang="en-US" sz="1000" dirty="0"/>
          </a:p>
        </p:txBody>
      </p:sp>
      <p:graphicFrame>
        <p:nvGraphicFramePr>
          <p:cNvPr id="40" name="shif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389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把握度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界面怎么变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&lt; 0.4 或 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留在输入态，不打扰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0.4 – 0.7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半透明"虚影"，按 Tab 才确认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≥ 0.7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直接变成卡片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前两名差 &lt; 0.15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9"/>
                          </a:solidFill>
                        </a:rPr>
                        <a:t>不替你猜，给两个按钮让你选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</a:tbl>
          </a:graphicData>
        </a:graphic>
      </p:graphicFrame>
      <p:sp>
        <p:nvSpPr>
          <p:cNvPr id="23" name="card"/>
          <p:cNvSpPr/>
          <p:nvPr/>
        </p:nvSpPr>
        <p:spPr>
          <a:xfrm>
            <a:off x="6903720" y="4251960"/>
            <a:ext cx="4736592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card-text"/>
          <p:cNvSpPr txBox="1"/>
          <p:nvPr/>
        </p:nvSpPr>
        <p:spPr>
          <a:xfrm>
            <a:off x="7040880" y="4343400"/>
            <a:ext cx="4462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防抖：不让界面闪</a:t>
            </a:r>
            <a:endParaRPr lang="en-US" sz="1000" dirty="0"/>
          </a:p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已定型的卡片，要被另一种</a:t>
            </a: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连赢两次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r>
              <a:rPr lang="en-US" sz="125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把握 ≥ 0.85</a:t>
            </a:r>
            <a:r>
              <a:rPr lang="en-US" sz="125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才换；"紧急"越过 1.2 才亮、跌破 1.0 才灭</a:t>
            </a:r>
            <a:endParaRPr lang="en-US" sz="1000" dirty="0"/>
          </a:p>
        </p:txBody>
      </p:sp>
      <p:sp>
        <p:nvSpPr>
          <p:cNvPr id="25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26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口号：</a:t>
            </a:r>
            <a:r>
              <a:rPr lang="en-US" sz="1500" b="1" dirty="0">
                <a:solidFill>
                  <a:schemeClr val="tx1"/>
                </a:solidFill>
              </a:rPr>
              <a:t>Jev decides, code computes.</a:t>
            </a:r>
            <a:r>
              <a:rPr lang="en-US" sz="1500" dirty="0">
                <a:solidFill>
                  <a:schemeClr val="tx1"/>
                </a:solidFill>
              </a:rPr>
              <a:t> 思路来自开源项目 anishfn/shapeshift（MIT），这里改成了中文输入。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 5：会变形的输入框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5 · 网页版演讲站里现场操作</a:t>
            </a:r>
            <a:endParaRPr lang="en-US" sz="1100" dirty="0"/>
          </a:p>
        </p:txBody>
      </p:sp>
      <p:sp>
        <p:nvSpPr>
          <p:cNvPr id="5" name="demo-steps"/>
          <p:cNvSpPr txBox="1"/>
          <p:nvPr/>
        </p:nvSpPr>
        <p:spPr>
          <a:xfrm>
            <a:off x="548640" y="16459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「明天中午和小王、小李吃饭」→ </a:t>
            </a:r>
            <a:r>
              <a:rPr lang="en-US" sz="1500" b="1" dirty="0">
                <a:solidFill>
                  <a:schemeClr val="tx1"/>
                </a:solidFill>
              </a:rPr>
              <a:t>日程</a:t>
            </a:r>
            <a:r>
              <a:rPr lang="en-US" sz="1500" dirty="0">
                <a:solidFill>
                  <a:schemeClr val="tx1"/>
                </a:solidFill>
              </a:rPr>
              <a:t> 98%：日期、人名都是</a:t>
            </a:r>
            <a:r>
              <a:rPr lang="en-US" sz="1500" b="1" dirty="0">
                <a:solidFill>
                  <a:schemeClr val="tx1"/>
                </a:solidFill>
              </a:rPr>
              <a:t>代码算的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「周五晚上8点和产品组开腾讯会议」→ 日程，eventMode 信号 = 视频会议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「提醒我明天交房租，很急」→ </a:t>
            </a:r>
            <a:r>
              <a:rPr lang="en-US" sz="1500" b="1" dirty="0">
                <a:solidFill>
                  <a:schemeClr val="tx1"/>
                </a:solidFill>
              </a:rPr>
              <a:t>提醒</a:t>
            </a:r>
            <a:r>
              <a:rPr lang="en-US" sz="1500" dirty="0">
                <a:solidFill>
                  <a:schemeClr val="tx1"/>
                </a:solidFill>
              </a:rPr>
              <a:t>，urgency 越过 1.2，亮"紧急"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连点：AA 分账 / 换算 / 计算 / 投票 / 倒数日 / 掷骰子，卡片都能点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「活动页可以加个倒计时」→ 只有约 50% 把握，只给</a:t>
            </a:r>
            <a:r>
              <a:rPr lang="en-US" sz="1500" b="1" dirty="0">
                <a:solidFill>
                  <a:schemeClr val="tx1"/>
                </a:solidFill>
              </a:rPr>
              <a:t>虚影</a:t>
            </a:r>
            <a:r>
              <a:rPr lang="en-US" sz="1500" dirty="0">
                <a:solidFill>
                  <a:schemeClr val="tx1"/>
                </a:solidFill>
              </a:rPr>
              <a:t>，按 Tab 才确认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自己一个字一个字打：信息不够时不打扰，够了才变形</a:t>
            </a:r>
            <a:endParaRPr lang="en-US" sz="1500" dirty="0"/>
          </a:p>
        </p:txBody>
      </p:sp>
      <p:sp>
        <p:nvSpPr>
          <p:cNvPr id="6" name="takeaway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7" name="takeaway-text"/>
          <p:cNvSpPr txBox="1"/>
          <p:nvPr/>
        </p:nvSpPr>
        <p:spPr>
          <a:xfrm>
            <a:off x="731520" y="56692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本页为 PPT 版：真实实测结果；现场请切换到网页版演讲站（第 40 页）。Tab 确认虚影 · Enter 保存 · Esc 清空。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035040" y="1645920"/>
            <a:ext cx="5605272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text"/>
          <p:cNvSpPr txBox="1"/>
          <p:nvPr/>
        </p:nvSpPr>
        <p:spPr>
          <a:xfrm>
            <a:off x="6172200" y="1737360"/>
            <a:ext cx="53309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真实调用结果（10 月 28 日，单次约 250 ms）</a:t>
            </a:r>
            <a:endParaRPr lang="en-US" sz="1000" dirty="0"/>
          </a:p>
        </p:txBody>
      </p:sp>
      <p:graphicFrame>
        <p:nvGraphicFramePr>
          <p:cNvPr id="41" name="shift-resul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11680"/>
          <a:ext cx="52578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143000"/>
                <a:gridCol w="2148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输入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Jev 判断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代码算出的卡片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明天中午和小王、小李吃饭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日程 98%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10月29日 周四 12:00 · 小王、小李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提醒我明天交房租，很急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提醒 100%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交房租 · 明天 · 🔴 紧急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2400块3个人AA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AA 100%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每人 ¥800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5英里是多少公里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换算 100%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5 英里 = 8.05 公里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3450的18%是多少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计算 100%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3,450 × 18% = 621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距离春节还有几天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倒数日 100%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101 天（2027-02-06）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活动页可以加个倒计时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倒数日 ~50%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EEF9"/>
                          </a:solidFill>
                        </a:rPr>
                        <a:t>只给虚影，等你确认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带走三句话</a:t>
            </a:r>
            <a:endParaRPr lang="en-US" sz="3000" dirty="0"/>
          </a:p>
        </p:txBody>
      </p:sp>
      <p:sp>
        <p:nvSpPr>
          <p:cNvPr id="3" name="eyebrow"/>
          <p:cNvSpPr txBox="1"/>
          <p:nvPr/>
        </p:nvSpPr>
        <p:spPr>
          <a:xfrm>
            <a:off x="548640" y="10241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593592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85800" y="1737360"/>
            <a:ext cx="3319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不是更便宜的大模型</a:t>
            </a:r>
            <a:endParaRPr lang="en-US" sz="10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是只会"涂答题卡"的判断零件：赢在</a:t>
            </a: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稳定低延迟 + 带把握度的答案 + 几乎免费的输出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4297680" y="1645920"/>
            <a:ext cx="3593592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4434840" y="1737360"/>
            <a:ext cx="3319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最值钱：按把握分流</a:t>
            </a:r>
            <a:endParaRPr lang="en-US" sz="10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高把握自动过，中间交大模型，低把握转人工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8046720" y="1645920"/>
            <a:ext cx="3593592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8183880" y="1737360"/>
            <a:ext cx="33192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spc="1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先盲测，再双轨</a:t>
            </a:r>
            <a:endParaRPr lang="en-US" sz="10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别急着 All in；今天好用的多是</a:t>
            </a:r>
            <a:r>
              <a:rPr lang="en-US" sz="1800" b="1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r>
              <a:rPr lang="en-US" sz="18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，不是成品。不可逆动作始终留硬规则</a:t>
            </a:r>
            <a:endParaRPr lang="en-US" sz="1000" dirty="0"/>
          </a:p>
        </p:txBody>
      </p:sp>
      <p:sp>
        <p:nvSpPr>
          <p:cNvPr id="11" name="takeaway"/>
          <p:cNvSpPr/>
          <p:nvPr/>
        </p:nvSpPr>
        <p:spPr>
          <a:xfrm>
            <a:off x="548640" y="539496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2" name="takeaway-text"/>
          <p:cNvSpPr txBox="1"/>
          <p:nvPr/>
        </p:nvSpPr>
        <p:spPr>
          <a:xfrm>
            <a:off x="731520" y="53949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NEXT ACTION：会后把业务里</a:t>
            </a:r>
            <a:r>
              <a:rPr lang="en-US" sz="1700" b="1" dirty="0">
                <a:solidFill>
                  <a:schemeClr val="tx1"/>
                </a:solidFill>
              </a:rPr>
              <a:t>"只要返回一个选项"</a:t>
            </a:r>
            <a:r>
              <a:rPr lang="en-US" sz="1700" dirty="0">
                <a:solidFill>
                  <a:schemeClr val="tx1"/>
                </a:solidFill>
              </a:rPr>
              <a:t>的场景发给我，一起挑一个做盲测。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99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chine.jpeg" descr="machin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330952" cy="2554415"/>
          </a:xfrm>
          <a:prstGeom prst="rect">
            <a:avLst/>
          </a:prstGeom>
        </p:spPr>
      </p:pic>
      <p:sp>
        <p:nvSpPr>
          <p:cNvPr id="3" name="machine.jpeg-frame"/>
          <p:cNvSpPr/>
          <p:nvPr/>
        </p:nvSpPr>
        <p:spPr>
          <a:xfrm>
            <a:off x="548640" y="1920240"/>
            <a:ext cx="5330952" cy="2554415"/>
          </a:xfrm>
          <a:prstGeom prst="roundRect">
            <a:avLst>
              <a:gd name="adj" fmla="val 2148"/>
            </a:avLst>
          </a:prstGeom>
          <a:ln w="9525">
            <a:solidFill>
              <a:srgbClr val="1B2942"/>
            </a:solidFill>
            <a:prstDash val="solid"/>
          </a:ln>
        </p:spPr>
      </p:sp>
      <p:sp>
        <p:nvSpPr>
          <p:cNvPr id="4" name="cap"/>
          <p:cNvSpPr txBox="1"/>
          <p:nvPr/>
        </p:nvSpPr>
        <p:spPr>
          <a:xfrm>
            <a:off x="548640" y="50292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ANSWER. HOW SURE.</a:t>
            </a:r>
            <a:endParaRPr lang="en-US" sz="1000" dirty="0"/>
          </a:p>
        </p:txBody>
      </p:sp>
      <p:sp>
        <p:nvSpPr>
          <p:cNvPr id="5" name="eyebrow"/>
          <p:cNvSpPr txBox="1"/>
          <p:nvPr/>
        </p:nvSpPr>
        <p:spPr>
          <a:xfrm>
            <a:off x="64922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6" name="thanks"/>
          <p:cNvSpPr txBox="1"/>
          <p:nvPr/>
        </p:nvSpPr>
        <p:spPr>
          <a:xfrm>
            <a:off x="649224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谢谢大家</a:t>
            </a:r>
            <a:endParaRPr lang="en-US" sz="5400" dirty="0"/>
          </a:p>
        </p:txBody>
      </p:sp>
      <p:sp>
        <p:nvSpPr>
          <p:cNvPr id="7" name="cover-divider"/>
          <p:cNvSpPr/>
          <p:nvPr/>
        </p:nvSpPr>
        <p:spPr>
          <a:xfrm>
            <a:off x="6492240" y="3566160"/>
            <a:ext cx="5120640" cy="9144"/>
          </a:xfrm>
          <a:prstGeom prst="rect">
            <a:avLst/>
          </a:prstGeom>
          <a:solidFill>
            <a:schemeClr val="tx2">
              <a:alpha val="30000"/>
            </a:schemeClr>
          </a:solidFill>
          <a:ln/>
        </p:spPr>
      </p:sp>
      <p:sp>
        <p:nvSpPr>
          <p:cNvPr id="8" name="cover-meta-name"/>
          <p:cNvSpPr txBox="1"/>
          <p:nvPr/>
        </p:nvSpPr>
        <p:spPr>
          <a:xfrm>
            <a:off x="6492240" y="3703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</a:rPr>
              <a:t>分享人    </a:t>
            </a:r>
            <a:r>
              <a:rPr lang="en-US" sz="2800" b="1" dirty="0">
                <a:solidFill>
                  <a:schemeClr val="tx1"/>
                </a:solidFill>
              </a:rPr>
              <a:t>黄冠豪</a:t>
            </a:r>
            <a:endParaRPr lang="en-US" sz="1200" dirty="0"/>
          </a:p>
        </p:txBody>
      </p:sp>
      <p:sp>
        <p:nvSpPr>
          <p:cNvPr id="9" name="cover-meta"/>
          <p:cNvSpPr txBox="1"/>
          <p:nvPr/>
        </p:nvSpPr>
        <p:spPr>
          <a:xfrm>
            <a:off x="64922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研发中心 / 游戏平台项目部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v Dark Tech">
  <a:themeElements>
    <a:clrScheme name="Jev Dark Tech">
      <a:dk1>
        <a:srgbClr val="E8EEF9"/>
      </a:dk1>
      <a:lt1>
        <a:srgbClr val="070B14"/>
      </a:lt1>
      <a:dk2>
        <a:srgbClr val="8DA2C0"/>
      </a:dk2>
      <a:lt2>
        <a:srgbClr val="0F1C33"/>
      </a:lt2>
      <a:accent1>
        <a:srgbClr val="38BDF8"/>
      </a:accent1>
      <a:accent2>
        <a:srgbClr val="A78BFA"/>
      </a:accent2>
      <a:accent3>
        <a:srgbClr val="34D399"/>
      </a:accent3>
      <a:accent4>
        <a:srgbClr val="F87171"/>
      </a:accent4>
      <a:accent5>
        <a:srgbClr val="FBBF24"/>
      </a:accent5>
      <a:accent6>
        <a:srgbClr val="6F8399"/>
      </a:accent6>
      <a:hlink>
        <a:srgbClr val="38BDF8"/>
      </a:hlink>
      <a:folHlink>
        <a:srgbClr val="A78BFA"/>
      </a:folHlink>
    </a:clrScheme>
    <a:fontScheme name="Jev Dark Tech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Jev：给程序做判断的模型</dc:title>
  <dc:subject>PptxGenJS Presentation</dc:subject>
  <dc:creator>分享人</dc:creator>
  <cp:lastModifiedBy>分享人</cp:lastModifiedBy>
  <cp:revision>1</cp:revision>
  <dcterms:created xsi:type="dcterms:W3CDTF">2026-10-28T04:18:10Z</dcterms:created>
  <dcterms:modified xsi:type="dcterms:W3CDTF">2026-10-28T04:18:10Z</dcterms:modified>
</cp:coreProperties>
</file>